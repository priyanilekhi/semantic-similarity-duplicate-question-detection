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93B"/>
                </a:solidFill>
                <a:latin typeface="Arial"/>
              </a:defRPr>
            </a:pPr>
            <a:r>
              <a:rPr sz="1100" b="0" i="0" u="none" strike="noStrike">
                <a:solidFill>
                  <a:srgbClr val="1E293B"/>
                </a:solidFill>
                <a:latin typeface="Arial"/>
              </a:rPr>
              <a:t>Held-out test set (9,029 pairs)</a:t>
            </a:r>
          </a:p>
        </c:rich>
      </c:tx>
      <c:layout/>
      <c:overlay val="0"/>
    </c:title>
    <c:autoTitleDeleted val="0"/>
    <c:plotArea>
      <c:layout/>
      <c:barChart>
        <c:barDir val="col"/>
        <c:grouping val="clustered"/>
        <c:varyColors val="0"/>
        <c:ser>
          <c:idx val="0"/>
          <c:order val="0"/>
          <c:tx>
            <c:strRef>
              <c:f>Sheet1!$B$1</c:f>
              <c:strCache>
                <c:ptCount val="1"/>
                <c:pt idx="0">
                  <c:v>TF-IDF</c:v>
                </c:pt>
              </c:strCache>
            </c:strRef>
          </c:tx>
          <c:spPr>
            <a:solidFill>
              <a:srgbClr val="64748B"/>
            </a:solidFill>
            <a:effectLst/>
          </c:spPr>
          <c:invertIfNegative val="0"/>
          <c:dLbls>
            <c:numFmt formatCode="0.0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Sheet1!$B$2:$B$5</c:f>
              <c:numCache>
                <c:formatCode>General</c:formatCode>
                <c:ptCount val="4"/>
                <c:pt idx="0">
                  <c:v>53.48</c:v>
                </c:pt>
                <c:pt idx="1">
                  <c:v>43.31</c:v>
                </c:pt>
                <c:pt idx="2">
                  <c:v>94.49</c:v>
                </c:pt>
                <c:pt idx="3">
                  <c:v>59.4</c:v>
                </c:pt>
              </c:numCache>
            </c:numRef>
          </c:val>
        </c:ser>
        <c:ser>
          <c:idx val="1"/>
          <c:order val="1"/>
          <c:tx>
            <c:strRef>
              <c:f>Sheet1!$C$1</c:f>
              <c:strCache>
                <c:ptCount val="1"/>
                <c:pt idx="0">
                  <c:v>Sentence-BERT</c:v>
                </c:pt>
              </c:strCache>
            </c:strRef>
          </c:tx>
          <c:spPr>
            <a:solidFill>
              <a:srgbClr val="0E9AA7"/>
            </a:solidFill>
            <a:effectLst/>
          </c:spPr>
          <c:invertIfNegative val="0"/>
          <c:dLbls>
            <c:numFmt formatCode="0.0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F1-score</c:v>
                  </c:pt>
                </c:lvl>
              </c:multiLvlStrCache>
            </c:multiLvlStrRef>
          </c:cat>
          <c:val>
            <c:numRef>
              <c:f>Sheet1!$C$2:$C$5</c:f>
              <c:numCache>
                <c:formatCode>General</c:formatCode>
                <c:ptCount val="4"/>
                <c:pt idx="0">
                  <c:v>76.49</c:v>
                </c:pt>
                <c:pt idx="1">
                  <c:v>61.84</c:v>
                </c:pt>
                <c:pt idx="2">
                  <c:v>90.59</c:v>
                </c:pt>
                <c:pt idx="3">
                  <c:v>73.51</c:v>
                </c:pt>
              </c:numCache>
            </c:numRef>
          </c:val>
        </c:ser>
        <c:dLbls>
          <c:numFmt formatCode="0.00&quot;%&quot;"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Low overlap (4,446 pairs)</c:v>
                </c:pt>
              </c:strCache>
            </c:strRef>
          </c:tx>
          <c:spPr>
            <a:solidFill>
              <a:srgbClr val="8AA4BF"/>
            </a:solidFill>
            <a:effectLst/>
          </c:spPr>
          <c:invertIfNegative val="0"/>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Recall</c:v>
                  </c:pt>
                  <c:pt idx="2">
                    <c:v>F1</c:v>
                  </c:pt>
                </c:lvl>
              </c:multiLvlStrCache>
            </c:multiLvlStrRef>
          </c:cat>
          <c:val>
            <c:numRef>
              <c:f>Sheet1!$B$2:$B$4</c:f>
              <c:numCache>
                <c:formatCode>General</c:formatCode>
                <c:ptCount val="3"/>
                <c:pt idx="0">
                  <c:v>85.61</c:v>
                </c:pt>
                <c:pt idx="1">
                  <c:v>79.28</c:v>
                </c:pt>
                <c:pt idx="2">
                  <c:v>65.96</c:v>
                </c:pt>
              </c:numCache>
            </c:numRef>
          </c:val>
        </c:ser>
        <c:ser>
          <c:idx val="1"/>
          <c:order val="1"/>
          <c:tx>
            <c:strRef>
              <c:f>Sheet1!$C$1</c:f>
              <c:strCache>
                <c:ptCount val="1"/>
                <c:pt idx="0">
                  <c:v>High overlap (4,583 pairs)</c:v>
                </c:pt>
              </c:strCache>
            </c:strRef>
          </c:tx>
          <c:spPr>
            <a:solidFill>
              <a:srgbClr val="0F1B33"/>
            </a:solidFill>
            <a:effectLst/>
          </c:spPr>
          <c:invertIfNegative val="0"/>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Recall</c:v>
                  </c:pt>
                  <c:pt idx="2">
                    <c:v>F1</c:v>
                  </c:pt>
                </c:lvl>
              </c:multiLvlStrCache>
            </c:multiLvlStrRef>
          </c:cat>
          <c:val>
            <c:numRef>
              <c:f>Sheet1!$C$2:$C$4</c:f>
              <c:numCache>
                <c:formatCode>General</c:formatCode>
                <c:ptCount val="3"/>
                <c:pt idx="0">
                  <c:v>67.64</c:v>
                </c:pt>
                <c:pt idx="1">
                  <c:v>94.17</c:v>
                </c:pt>
                <c:pt idx="2">
                  <c:v>75.82</c:v>
                </c:pt>
              </c:numCache>
            </c:numRef>
          </c:val>
        </c:ser>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Short pairs (4,345)</c:v>
                </c:pt>
              </c:strCache>
            </c:strRef>
          </c:tx>
          <c:spPr>
            <a:solidFill>
              <a:srgbClr val="8AA4BF"/>
            </a:solidFill>
            <a:effectLst/>
          </c:spPr>
          <c:invertIfNegative val="0"/>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Sheet1!$B$2:$B$5</c:f>
              <c:numCache>
                <c:formatCode>General</c:formatCode>
                <c:ptCount val="4"/>
                <c:pt idx="0">
                  <c:v>73.81</c:v>
                </c:pt>
                <c:pt idx="1">
                  <c:v>63.78</c:v>
                </c:pt>
                <c:pt idx="2">
                  <c:v>94.16</c:v>
                </c:pt>
                <c:pt idx="3">
                  <c:v>76.05</c:v>
                </c:pt>
              </c:numCache>
            </c:numRef>
          </c:val>
        </c:ser>
        <c:ser>
          <c:idx val="1"/>
          <c:order val="1"/>
          <c:tx>
            <c:strRef>
              <c:f>Sheet1!$C$1</c:f>
              <c:strCache>
                <c:ptCount val="1"/>
                <c:pt idx="0">
                  <c:v>Long pairs (4,684)</c:v>
                </c:pt>
              </c:strCache>
            </c:strRef>
          </c:tx>
          <c:spPr>
            <a:solidFill>
              <a:srgbClr val="0F1B33"/>
            </a:solidFill>
            <a:effectLst/>
          </c:spPr>
          <c:invertIfNegative val="0"/>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Sheet1!$C$2:$C$5</c:f>
              <c:numCache>
                <c:formatCode>General</c:formatCode>
                <c:ptCount val="4"/>
                <c:pt idx="0">
                  <c:v>78.97</c:v>
                </c:pt>
                <c:pt idx="1">
                  <c:v>58.99</c:v>
                </c:pt>
                <c:pt idx="2">
                  <c:v>85.44</c:v>
                </c:pt>
                <c:pt idx="3">
                  <c:v>69.79</c:v>
                </c:pt>
              </c:numCache>
            </c:numRef>
          </c:val>
        </c:ser>
        <c:dLbls>
          <c:numFmt formatCode="0.00&quot;%&quot;"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PRIYANI (about 40 seconds)
Start with a question: can an NLP model understand that two differently worded questions mean the same thing?
Look at the left card. These two Harvard questions share almost no words, yet they ask for the same thing. Now the right card. These two phone questions share almost every word, but switching from Verizon to Straight Talk is the opposite of switching from Straight Talk to Verizon.
So lexical similarity is not the same as semantic similarity. Our data is the Quora Question Pairs dataset, 404,290 labelled pairs, and our project compares a simple word-overlap method against a semantic embedding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PRIYANI (about 55 seconds)
Here is the pipeline. Every pair of questions first goes through a leakage-safe split. A question can appear in many pairs, so we split the 537,933 unique question IDs 70, 15 and 15, and kept a pair only if both of its questions fell in the same split. That left 216,158 of the 404,290 pairs, about 53.5 percent, and we verified that no question ID is shared between train, validation and test. So our results describe this retained subset, not the full dataset.
Then two methods run side by side. On the left, TF-IDF with cosine similarity: a lexical baseline fitted on training questions only. On the right, Sentence-BERT, the all-MiniLM-L6-v2 model producing 384-dimensional embeddings, again compared with cosine similarity. It is pretrained and we did not fine-tune it.
Each method turns the similarity score into a decision with a threshold, 0.17 for TF-IDF and 0.73 for Sentence-BERT, chosen on validation data by maximising F1. Kudrat will now show what happened on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KUDRAT (about 60 seconds)
This is our main result, on 9,029 held-out test pairs. The grey bars are TF-IDF and the teal bars are Sentence-BERT.
Sentence-BERT raised accuracy from 53.48 percent to 76.49 percent, which is 23 percentage points. Precision rose by 18.53 points, and F1 rose by 14.11 points, from 59.40 to 73.51 percent.
But we want to be honest: it did not win on everything. Recall dropped by 3.91 points, from 94.49 to 90.59 percent. So Sentence-BERT improved overall classification quality while keeping duplicate-detection recall high, but the improvement was not uniform.
The confusion matrix explains why. Compared with TF-IDF, Sentence-BERT made 2,204 fewer false positives, 1,817 instead of 4,021, at the cost of 127 more false negatives, 306 instead of 179. That is why accuracy and precision improved. Dhruvi will now show how this varies by type of question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DHRUVI (about 60 seconds)
A single accuracy number hides a lot, so we audited the Sentence-BERT predictions in two ways, splitting the test set at the median.
On the left, lexical overlap. Pairs with high word overlap had much higher recall, 94.17 percent against 79.28 percent, but lower accuracy, 67.64 percent against 85.61 percent. That is consistent with the model being more likely to call highly overlapping pairs duplicates, which would also raise false positives. We did not compute subgroup confusion matrices, so this is an interpretation.
On the right, question length. Short pairs had stronger recall and F1, 94.16 and 76.05 percent. Long pairs had higher accuracy, 78.97 percent, but lower recall and F1. So neither group is uniformly better.
Importantly, this audit shows association, not causation. Bhavay will now show what the model still gets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BHAVAY (about 75 seconds)
Sentence-BERT is strong, but it is not perfect. It made 1,817 false positives and 306 false negatives, and false positives are the larger error type.
On the left are three false positives, with similarity above 0.99. Reversing the direction of the switch between Verizon and Straight Talk scores 0.9950. Changing the earning target and the starting capital, from around one million pounds with under 2,000 to more than one million with under 5,000, scores 0.9908. Changing November 21st to November 7th scores 0.9904. In these pairs a direction, a number or a date changes the meaning, and the similarity score did not preserve it.
On the right is the opposite failure. These two lethargy questions are labelled duplicates, but the score is 0.7296, just under our threshold of 0.73, so the model calls them non-duplicates. The ten highest-scoring false negatives all sat between 0.7281 and 0.7299, so the exact threshold matters.
One fair caveat: some false positives are near-paraphrases and some labels look ambiguous, so not every error is a clear model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BHAVAY (about 50 seconds)
So, what did we learn? One: Sentence-BERT outperformed TF-IDF on overall classification quality, accuracy up 23 points and F1 up 14.11 points. Two: auditing showed real trade-offs across lexical overlap and question length, so a single accuracy figure is not enough. Three: fine-grained differences in direction, numbers and dates, and ambiguous labels, remain major challenges.
We should also be clear about our limits: one pretrained model, one random split, no fine-tuning and no cross-validation, and the results cover the 216,158 pairs retained after the leakage-safe split. Automatic merging of questions without human review would not be appropriate based on these results.
Next steps would be a cross-encoder, fine-tuning, and explicit checks for numbers, dates and entities.
So our closing message: duplicate detection should not stop at similarity. It must understand what changes the meaning.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9"/>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1 · THE PROBLEM</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200" b="1" dirty="0">
                <a:solidFill>
                  <a:srgbClr val="0F1B33"/>
                </a:solidFill>
                <a:latin typeface="Georgia" pitchFamily="34" charset="0"/>
                <a:ea typeface="Georgia" pitchFamily="34" charset="-122"/>
                <a:cs typeface="Georgia" pitchFamily="34" charset="-120"/>
              </a:rPr>
              <a:t>Same Words ≠ Same Meaning</a:t>
            </a:r>
            <a:endParaRPr lang="en-US" sz="2200" dirty="0"/>
          </a:p>
        </p:txBody>
      </p:sp>
      <p:sp>
        <p:nvSpPr>
          <p:cNvPr id="4" name="Text 2"/>
          <p:cNvSpPr txBox="1"/>
          <p:nvPr/>
        </p:nvSpPr>
        <p:spPr>
          <a:xfrm>
            <a:off x="457200" y="1051560"/>
            <a:ext cx="822960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Semantic Similarity-Based Duplicate Question Detection  |  Natural Language Processing, SAII</a:t>
            </a:r>
            <a:endParaRPr lang="en-US" sz="1100" dirty="0"/>
          </a:p>
        </p:txBody>
      </p:sp>
      <p:sp>
        <p:nvSpPr>
          <p:cNvPr id="5" name="Example A"/>
          <p:cNvSpPr/>
          <p:nvPr/>
        </p:nvSpPr>
        <p:spPr>
          <a:xfrm>
            <a:off x="457200" y="1463040"/>
            <a:ext cx="4023360" cy="2606040"/>
          </a:xfrm>
          <a:prstGeom prst="roundRect">
            <a:avLst>
              <a:gd name="adj" fmla="val 2807"/>
            </a:avLst>
          </a:prstGeom>
          <a:solidFill>
            <a:srgbClr val="FFFFFF"/>
          </a:solidFill>
          <a:ln w="12700">
            <a:solidFill>
              <a:srgbClr val="D5DBE3"/>
            </a:solidFill>
            <a:prstDash val="solid"/>
          </a:ln>
        </p:spPr>
      </p:sp>
      <p:sp>
        <p:nvSpPr>
          <p:cNvPr id="6" name="Shape 4"/>
          <p:cNvSpPr/>
          <p:nvPr/>
        </p:nvSpPr>
        <p:spPr>
          <a:xfrm>
            <a:off x="640080" y="1627632"/>
            <a:ext cx="3657600" cy="310896"/>
          </a:xfrm>
          <a:prstGeom prst="roundRect">
            <a:avLst>
              <a:gd name="adj" fmla="val 50000"/>
            </a:avLst>
          </a:prstGeom>
          <a:solidFill>
            <a:srgbClr val="0E9AA7"/>
          </a:solidFill>
          <a:ln w="12700">
            <a:solidFill>
              <a:srgbClr val="0E9AA7"/>
            </a:solidFill>
            <a:prstDash val="solid"/>
          </a:ln>
        </p:spPr>
      </p:sp>
      <p:sp>
        <p:nvSpPr>
          <p:cNvPr id="7" name="Text 5"/>
          <p:cNvSpPr txBox="1"/>
          <p:nvPr/>
        </p:nvSpPr>
        <p:spPr>
          <a:xfrm>
            <a:off x="640080" y="1627632"/>
            <a:ext cx="36576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LEXICAL: LOW OVERLAP   →   SEMANTIC: SAME INTENT</a:t>
            </a:r>
            <a:endParaRPr lang="en-US" sz="1050" dirty="0"/>
          </a:p>
        </p:txBody>
      </p:sp>
      <p:sp>
        <p:nvSpPr>
          <p:cNvPr id="8" name="Shape 6"/>
          <p:cNvSpPr/>
          <p:nvPr/>
        </p:nvSpPr>
        <p:spPr>
          <a:xfrm>
            <a:off x="640080" y="2103120"/>
            <a:ext cx="3657600" cy="731520"/>
          </a:xfrm>
          <a:prstGeom prst="roundRect">
            <a:avLst>
              <a:gd name="adj" fmla="val 7500"/>
            </a:avLst>
          </a:prstGeom>
          <a:solidFill>
            <a:srgbClr val="EEF2F6"/>
          </a:solidFill>
          <a:ln w="12700">
            <a:solidFill>
              <a:srgbClr val="EEF2F6"/>
            </a:solidFill>
            <a:prstDash val="solid"/>
          </a:ln>
        </p:spPr>
      </p:sp>
      <p:sp>
        <p:nvSpPr>
          <p:cNvPr id="9" name="Text 7"/>
          <p:cNvSpPr txBox="1"/>
          <p:nvPr/>
        </p:nvSpPr>
        <p:spPr>
          <a:xfrm>
            <a:off x="777240" y="2103120"/>
            <a:ext cx="3383280"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How do I </a:t>
            </a:r>
            <a:pPr indent="0" marL="0">
              <a:buNone/>
            </a:pPr>
            <a:r>
              <a:rPr lang="en-US" sz="1350" b="1" dirty="0">
                <a:solidFill>
                  <a:srgbClr val="0E9AA7"/>
                </a:solidFill>
                <a:latin typeface="Calibri" pitchFamily="34" charset="0"/>
                <a:ea typeface="Calibri" pitchFamily="34" charset="-122"/>
                <a:cs typeface="Calibri" pitchFamily="34" charset="-120"/>
              </a:rPr>
              <a:t>get</a:t>
            </a:r>
            <a:pPr indent="0" marL="0">
              <a:buNone/>
            </a:pPr>
            <a:r>
              <a:rPr lang="en-US" sz="1350" dirty="0">
                <a:solidFill>
                  <a:srgbClr val="1E293B"/>
                </a:solidFill>
                <a:latin typeface="Calibri" pitchFamily="34" charset="0"/>
                <a:ea typeface="Calibri" pitchFamily="34" charset="-122"/>
                <a:cs typeface="Calibri" pitchFamily="34" charset="-120"/>
              </a:rPr>
              <a:t> into </a:t>
            </a:r>
            <a:pPr indent="0" marL="0">
              <a:buNone/>
            </a:pPr>
            <a:r>
              <a:rPr lang="en-US" sz="1350" b="1" dirty="0">
                <a:solidFill>
                  <a:srgbClr val="0E9AA7"/>
                </a:solidFill>
                <a:latin typeface="Calibri" pitchFamily="34" charset="0"/>
                <a:ea typeface="Calibri" pitchFamily="34" charset="-122"/>
                <a:cs typeface="Calibri" pitchFamily="34" charset="-120"/>
              </a:rPr>
              <a:t>Harvard</a:t>
            </a:r>
            <a:pPr indent="0" marL="0">
              <a:buNone/>
            </a:pPr>
            <a:r>
              <a:rPr lang="en-US" sz="1350" dirty="0">
                <a:solidFill>
                  <a:srgbClr val="1E293B"/>
                </a:solidFill>
                <a:latin typeface="Calibri" pitchFamily="34" charset="0"/>
                <a:ea typeface="Calibri" pitchFamily="34" charset="-122"/>
                <a:cs typeface="Calibri" pitchFamily="34" charset="-120"/>
              </a:rPr>
              <a:t> as an undergrad?</a:t>
            </a:r>
            <a:endParaRPr lang="en-US" sz="1350" dirty="0"/>
          </a:p>
        </p:txBody>
      </p:sp>
      <p:sp>
        <p:nvSpPr>
          <p:cNvPr id="10" name="Text 8"/>
          <p:cNvSpPr txBox="1"/>
          <p:nvPr/>
        </p:nvSpPr>
        <p:spPr>
          <a:xfrm>
            <a:off x="640080" y="2871216"/>
            <a:ext cx="3657600" cy="201168"/>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vs.</a:t>
            </a:r>
            <a:endParaRPr lang="en-US" sz="1000" dirty="0"/>
          </a:p>
        </p:txBody>
      </p:sp>
      <p:sp>
        <p:nvSpPr>
          <p:cNvPr id="11" name="Shape 9"/>
          <p:cNvSpPr/>
          <p:nvPr/>
        </p:nvSpPr>
        <p:spPr>
          <a:xfrm>
            <a:off x="640080" y="3108960"/>
            <a:ext cx="3657600" cy="731520"/>
          </a:xfrm>
          <a:prstGeom prst="roundRect">
            <a:avLst>
              <a:gd name="adj" fmla="val 7500"/>
            </a:avLst>
          </a:prstGeom>
          <a:solidFill>
            <a:srgbClr val="EEF2F6"/>
          </a:solidFill>
          <a:ln w="12700">
            <a:solidFill>
              <a:srgbClr val="EEF2F6"/>
            </a:solidFill>
            <a:prstDash val="solid"/>
          </a:ln>
        </p:spPr>
      </p:sp>
      <p:sp>
        <p:nvSpPr>
          <p:cNvPr id="12" name="Text 10"/>
          <p:cNvSpPr txBox="1"/>
          <p:nvPr/>
        </p:nvSpPr>
        <p:spPr>
          <a:xfrm>
            <a:off x="777240" y="3108960"/>
            <a:ext cx="3383280"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What should be done to </a:t>
            </a:r>
            <a:pPr indent="0" marL="0">
              <a:buNone/>
            </a:pPr>
            <a:r>
              <a:rPr lang="en-US" sz="1350" b="1" dirty="0">
                <a:solidFill>
                  <a:srgbClr val="0E9AA7"/>
                </a:solidFill>
                <a:latin typeface="Calibri" pitchFamily="34" charset="0"/>
                <a:ea typeface="Calibri" pitchFamily="34" charset="-122"/>
                <a:cs typeface="Calibri" pitchFamily="34" charset="-120"/>
              </a:rPr>
              <a:t>get</a:t>
            </a:r>
            <a:pPr indent="0" marL="0">
              <a:buNone/>
            </a:pPr>
            <a:r>
              <a:rPr lang="en-US" sz="1350" dirty="0">
                <a:solidFill>
                  <a:srgbClr val="1E293B"/>
                </a:solidFill>
                <a:latin typeface="Calibri" pitchFamily="34" charset="0"/>
                <a:ea typeface="Calibri" pitchFamily="34" charset="-122"/>
                <a:cs typeface="Calibri" pitchFamily="34" charset="-120"/>
              </a:rPr>
              <a:t> admission in </a:t>
            </a:r>
            <a:pPr indent="0" marL="0">
              <a:buNone/>
            </a:pPr>
            <a:r>
              <a:rPr lang="en-US" sz="1350" b="1" dirty="0">
                <a:solidFill>
                  <a:srgbClr val="0E9AA7"/>
                </a:solidFill>
                <a:latin typeface="Calibri" pitchFamily="34" charset="0"/>
                <a:ea typeface="Calibri" pitchFamily="34" charset="-122"/>
                <a:cs typeface="Calibri" pitchFamily="34" charset="-120"/>
              </a:rPr>
              <a:t>Harvard</a:t>
            </a:r>
            <a:pPr indent="0" marL="0">
              <a:buNone/>
            </a:pPr>
            <a:r>
              <a:rPr lang="en-US" sz="1350" dirty="0">
                <a:solidFill>
                  <a:srgbClr val="1E293B"/>
                </a:solidFill>
                <a:latin typeface="Calibri" pitchFamily="34" charset="0"/>
                <a:ea typeface="Calibri" pitchFamily="34" charset="-122"/>
                <a:cs typeface="Calibri" pitchFamily="34" charset="-120"/>
              </a:rPr>
              <a:t>?</a:t>
            </a:r>
            <a:endParaRPr lang="en-US" sz="1350" dirty="0"/>
          </a:p>
        </p:txBody>
      </p:sp>
      <p:sp>
        <p:nvSpPr>
          <p:cNvPr id="13" name="Example B"/>
          <p:cNvSpPr/>
          <p:nvPr/>
        </p:nvSpPr>
        <p:spPr>
          <a:xfrm>
            <a:off x="4663440" y="1463040"/>
            <a:ext cx="4023360" cy="2606040"/>
          </a:xfrm>
          <a:prstGeom prst="roundRect">
            <a:avLst>
              <a:gd name="adj" fmla="val 2807"/>
            </a:avLst>
          </a:prstGeom>
          <a:solidFill>
            <a:srgbClr val="FFFFFF"/>
          </a:solidFill>
          <a:ln w="12700">
            <a:solidFill>
              <a:srgbClr val="D5DBE3"/>
            </a:solidFill>
            <a:prstDash val="solid"/>
          </a:ln>
        </p:spPr>
      </p:sp>
      <p:sp>
        <p:nvSpPr>
          <p:cNvPr id="14" name="Shape 12"/>
          <p:cNvSpPr/>
          <p:nvPr/>
        </p:nvSpPr>
        <p:spPr>
          <a:xfrm>
            <a:off x="4846320" y="1627632"/>
            <a:ext cx="3657600" cy="310896"/>
          </a:xfrm>
          <a:prstGeom prst="roundRect">
            <a:avLst>
              <a:gd name="adj" fmla="val 50000"/>
            </a:avLst>
          </a:prstGeom>
          <a:solidFill>
            <a:srgbClr val="D64545"/>
          </a:solidFill>
          <a:ln w="12700">
            <a:solidFill>
              <a:srgbClr val="D64545"/>
            </a:solidFill>
            <a:prstDash val="solid"/>
          </a:ln>
        </p:spPr>
      </p:sp>
      <p:sp>
        <p:nvSpPr>
          <p:cNvPr id="15" name="Text 13"/>
          <p:cNvSpPr txBox="1"/>
          <p:nvPr/>
        </p:nvSpPr>
        <p:spPr>
          <a:xfrm>
            <a:off x="4846320" y="1627632"/>
            <a:ext cx="365760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LEXICAL: HIGH OVERLAP   →   SEMANTIC: DIFFERENT</a:t>
            </a:r>
            <a:endParaRPr lang="en-US" sz="1050" dirty="0"/>
          </a:p>
        </p:txBody>
      </p:sp>
      <p:sp>
        <p:nvSpPr>
          <p:cNvPr id="16" name="Shape 14"/>
          <p:cNvSpPr/>
          <p:nvPr/>
        </p:nvSpPr>
        <p:spPr>
          <a:xfrm>
            <a:off x="4846320" y="2103120"/>
            <a:ext cx="3657600" cy="731520"/>
          </a:xfrm>
          <a:prstGeom prst="roundRect">
            <a:avLst>
              <a:gd name="adj" fmla="val 7500"/>
            </a:avLst>
          </a:prstGeom>
          <a:solidFill>
            <a:srgbClr val="EEF2F6"/>
          </a:solidFill>
          <a:ln w="12700">
            <a:solidFill>
              <a:srgbClr val="EEF2F6"/>
            </a:solidFill>
            <a:prstDash val="solid"/>
          </a:ln>
        </p:spPr>
      </p:sp>
      <p:sp>
        <p:nvSpPr>
          <p:cNvPr id="17" name="Text 15"/>
          <p:cNvSpPr txBox="1"/>
          <p:nvPr/>
        </p:nvSpPr>
        <p:spPr>
          <a:xfrm>
            <a:off x="4983480" y="2103120"/>
            <a:ext cx="3383280"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How can I switch my phone from </a:t>
            </a:r>
            <a:pPr indent="0" marL="0">
              <a:buNone/>
            </a:pPr>
            <a:r>
              <a:rPr lang="en-US" sz="1350" b="1" dirty="0">
                <a:solidFill>
                  <a:srgbClr val="D64545"/>
                </a:solidFill>
                <a:latin typeface="Calibri" pitchFamily="34" charset="0"/>
                <a:ea typeface="Calibri" pitchFamily="34" charset="-122"/>
                <a:cs typeface="Calibri" pitchFamily="34" charset="-120"/>
              </a:rPr>
              <a:t>Verizon to Straight Talk</a:t>
            </a:r>
            <a:pPr indent="0" marL="0">
              <a:buNone/>
            </a:pPr>
            <a:r>
              <a:rPr lang="en-US" sz="1350" dirty="0">
                <a:solidFill>
                  <a:srgbClr val="1E293B"/>
                </a:solidFill>
                <a:latin typeface="Calibri" pitchFamily="34" charset="0"/>
                <a:ea typeface="Calibri" pitchFamily="34" charset="-122"/>
                <a:cs typeface="Calibri" pitchFamily="34" charset="-120"/>
              </a:rPr>
              <a:t>?</a:t>
            </a:r>
            <a:endParaRPr lang="en-US" sz="1350" dirty="0"/>
          </a:p>
        </p:txBody>
      </p:sp>
      <p:sp>
        <p:nvSpPr>
          <p:cNvPr id="18" name="Text 16"/>
          <p:cNvSpPr txBox="1"/>
          <p:nvPr/>
        </p:nvSpPr>
        <p:spPr>
          <a:xfrm>
            <a:off x="4846320" y="2871216"/>
            <a:ext cx="3657600" cy="201168"/>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vs.</a:t>
            </a:r>
            <a:endParaRPr lang="en-US" sz="1000" dirty="0"/>
          </a:p>
        </p:txBody>
      </p:sp>
      <p:sp>
        <p:nvSpPr>
          <p:cNvPr id="19" name="Shape 17"/>
          <p:cNvSpPr/>
          <p:nvPr/>
        </p:nvSpPr>
        <p:spPr>
          <a:xfrm>
            <a:off x="4846320" y="3108960"/>
            <a:ext cx="3657600" cy="731520"/>
          </a:xfrm>
          <a:prstGeom prst="roundRect">
            <a:avLst>
              <a:gd name="adj" fmla="val 7500"/>
            </a:avLst>
          </a:prstGeom>
          <a:solidFill>
            <a:srgbClr val="EEF2F6"/>
          </a:solidFill>
          <a:ln w="12700">
            <a:solidFill>
              <a:srgbClr val="EEF2F6"/>
            </a:solidFill>
            <a:prstDash val="solid"/>
          </a:ln>
        </p:spPr>
      </p:sp>
      <p:sp>
        <p:nvSpPr>
          <p:cNvPr id="20" name="Text 18"/>
          <p:cNvSpPr txBox="1"/>
          <p:nvPr/>
        </p:nvSpPr>
        <p:spPr>
          <a:xfrm>
            <a:off x="4983480" y="3108960"/>
            <a:ext cx="3383280" cy="73152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How can I switch my phone from </a:t>
            </a:r>
            <a:pPr indent="0" marL="0">
              <a:buNone/>
            </a:pPr>
            <a:r>
              <a:rPr lang="en-US" sz="1350" b="1" dirty="0">
                <a:solidFill>
                  <a:srgbClr val="D64545"/>
                </a:solidFill>
                <a:latin typeface="Calibri" pitchFamily="34" charset="0"/>
                <a:ea typeface="Calibri" pitchFamily="34" charset="-122"/>
                <a:cs typeface="Calibri" pitchFamily="34" charset="-120"/>
              </a:rPr>
              <a:t>Straight Talk to Verizon</a:t>
            </a:r>
            <a:pPr indent="0" marL="0">
              <a:buNone/>
            </a:pPr>
            <a:r>
              <a:rPr lang="en-US" sz="1350" dirty="0">
                <a:solidFill>
                  <a:srgbClr val="1E293B"/>
                </a:solidFill>
                <a:latin typeface="Calibri" pitchFamily="34" charset="0"/>
                <a:ea typeface="Calibri" pitchFamily="34" charset="-122"/>
                <a:cs typeface="Calibri" pitchFamily="34" charset="-120"/>
              </a:rPr>
              <a:t>?</a:t>
            </a:r>
            <a:endParaRPr lang="en-US" sz="1350" dirty="0"/>
          </a:p>
        </p:txBody>
      </p:sp>
      <p:sp>
        <p:nvSpPr>
          <p:cNvPr id="21" name="Text 19"/>
          <p:cNvSpPr txBox="1"/>
          <p:nvPr/>
        </p:nvSpPr>
        <p:spPr>
          <a:xfrm>
            <a:off x="457200" y="4114800"/>
            <a:ext cx="822960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Quora Question Pairs  ·  404,290 labelled pairs  ·  highlighted: shared words (A), reversed direction (B)</a:t>
            </a:r>
            <a:endParaRPr lang="en-US" sz="1000" dirty="0"/>
          </a:p>
        </p:txBody>
      </p:sp>
      <p:sp>
        <p:nvSpPr>
          <p:cNvPr id="22" name="Takeaway"/>
          <p:cNvSpPr/>
          <p:nvPr/>
        </p:nvSpPr>
        <p:spPr>
          <a:xfrm>
            <a:off x="457200" y="4389120"/>
            <a:ext cx="8229600" cy="502920"/>
          </a:xfrm>
          <a:prstGeom prst="roundRect">
            <a:avLst>
              <a:gd name="adj" fmla="val 14545"/>
            </a:avLst>
          </a:prstGeom>
          <a:solidFill>
            <a:srgbClr val="0F1B33"/>
          </a:solidFill>
          <a:ln w="12700">
            <a:solidFill>
              <a:srgbClr val="0F1B33"/>
            </a:solidFill>
            <a:prstDash val="solid"/>
          </a:ln>
        </p:spPr>
      </p:sp>
      <p:sp>
        <p:nvSpPr>
          <p:cNvPr id="23" name="Text 21"/>
          <p:cNvSpPr txBox="1"/>
          <p:nvPr/>
        </p:nvSpPr>
        <p:spPr>
          <a:xfrm>
            <a:off x="640080" y="4389120"/>
            <a:ext cx="786384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Duplicate question detection is a semantic similarity problem, not just a word-matching problem.</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2 · OUR NLP PIPELINE</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200" b="1" dirty="0">
                <a:solidFill>
                  <a:srgbClr val="0F1B33"/>
                </a:solidFill>
                <a:latin typeface="Georgia" pitchFamily="34" charset="0"/>
                <a:ea typeface="Georgia" pitchFamily="34" charset="-122"/>
                <a:cs typeface="Georgia" pitchFamily="34" charset="-120"/>
              </a:rPr>
              <a:t>From Questions to a Duplicate Decision</a:t>
            </a:r>
            <a:endParaRPr lang="en-US" sz="2200" dirty="0"/>
          </a:p>
        </p:txBody>
      </p:sp>
      <p:sp>
        <p:nvSpPr>
          <p:cNvPr id="4" name="Input"/>
          <p:cNvSpPr/>
          <p:nvPr/>
        </p:nvSpPr>
        <p:spPr>
          <a:xfrm>
            <a:off x="457200" y="1143000"/>
            <a:ext cx="2103120" cy="548640"/>
          </a:xfrm>
          <a:prstGeom prst="roundRect">
            <a:avLst>
              <a:gd name="adj" fmla="val 13333"/>
            </a:avLst>
          </a:prstGeom>
          <a:solidFill>
            <a:srgbClr val="FFFFFF"/>
          </a:solidFill>
          <a:ln w="12700">
            <a:solidFill>
              <a:srgbClr val="D5DBE3"/>
            </a:solidFill>
            <a:prstDash val="solid"/>
          </a:ln>
        </p:spPr>
      </p:sp>
      <p:sp>
        <p:nvSpPr>
          <p:cNvPr id="5" name="Text 3"/>
          <p:cNvSpPr txBox="1"/>
          <p:nvPr/>
        </p:nvSpPr>
        <p:spPr>
          <a:xfrm>
            <a:off x="457200" y="1143000"/>
            <a:ext cx="2103120" cy="548640"/>
          </a:xfrm>
          <a:prstGeom prst="rect">
            <a:avLst/>
          </a:prstGeom>
          <a:noFill/>
          <a:ln/>
        </p:spPr>
        <p:txBody>
          <a:bodyPr wrap="square" lIns="0" tIns="0" rIns="0" bIns="0" rtlCol="0" anchor="ctr"/>
          <a:lstStyle/>
          <a:p>
            <a:pPr algn="ctr" indent="0" marL="0">
              <a:buNone/>
            </a:pPr>
            <a:r>
              <a:rPr lang="en-US" sz="1200" b="1" dirty="0">
                <a:solidFill>
                  <a:srgbClr val="1E293B"/>
                </a:solidFill>
                <a:latin typeface="Calibri" pitchFamily="34" charset="0"/>
                <a:ea typeface="Calibri" pitchFamily="34" charset="-122"/>
                <a:cs typeface="Calibri" pitchFamily="34" charset="-120"/>
              </a:rPr>
              <a:t>Question pair</a:t>
            </a:r>
            <a:endParaRPr lang="en-US" sz="1200" dirty="0"/>
          </a:p>
        </p:txBody>
      </p:sp>
      <p:sp>
        <p:nvSpPr>
          <p:cNvPr id="6" name="Shape 4"/>
          <p:cNvSpPr/>
          <p:nvPr/>
        </p:nvSpPr>
        <p:spPr>
          <a:xfrm>
            <a:off x="2560320" y="1417320"/>
            <a:ext cx="365760" cy="0"/>
          </a:xfrm>
          <a:prstGeom prst="line">
            <a:avLst/>
          </a:prstGeom>
          <a:noFill/>
          <a:ln w="19050">
            <a:solidFill>
              <a:srgbClr val="64748B"/>
            </a:solidFill>
            <a:prstDash val="solid"/>
            <a:tailEnd type="triangle"/>
          </a:ln>
        </p:spPr>
      </p:sp>
      <p:sp>
        <p:nvSpPr>
          <p:cNvPr id="7" name="Leakage-safe split"/>
          <p:cNvSpPr/>
          <p:nvPr/>
        </p:nvSpPr>
        <p:spPr>
          <a:xfrm>
            <a:off x="2926080" y="1143000"/>
            <a:ext cx="5760720" cy="548640"/>
          </a:xfrm>
          <a:prstGeom prst="roundRect">
            <a:avLst>
              <a:gd name="adj" fmla="val 13333"/>
            </a:avLst>
          </a:prstGeom>
          <a:solidFill>
            <a:srgbClr val="FFF4D6"/>
          </a:solidFill>
          <a:ln w="12700">
            <a:solidFill>
              <a:srgbClr val="E8A317"/>
            </a:solidFill>
            <a:prstDash val="solid"/>
          </a:ln>
        </p:spPr>
      </p:sp>
      <p:sp>
        <p:nvSpPr>
          <p:cNvPr id="8" name="Text 6"/>
          <p:cNvSpPr txBox="1"/>
          <p:nvPr/>
        </p:nvSpPr>
        <p:spPr>
          <a:xfrm>
            <a:off x="2926080" y="1143000"/>
            <a:ext cx="5760720" cy="548640"/>
          </a:xfrm>
          <a:prstGeom prst="rect">
            <a:avLst/>
          </a:prstGeom>
          <a:noFill/>
          <a:ln/>
        </p:spPr>
        <p:txBody>
          <a:bodyPr wrap="square" lIns="0" tIns="0" rIns="0" bIns="0" rtlCol="0" anchor="ctr"/>
          <a:lstStyle/>
          <a:p>
            <a:pPr algn="ctr" indent="0" marL="0">
              <a:buNone/>
            </a:pPr>
            <a:r>
              <a:rPr lang="en-US" sz="1250" b="1" dirty="0">
                <a:solidFill>
                  <a:srgbClr val="1E293B"/>
                </a:solidFill>
                <a:latin typeface="Calibri" pitchFamily="34" charset="0"/>
                <a:ea typeface="Calibri" pitchFamily="34" charset="-122"/>
                <a:cs typeface="Calibri" pitchFamily="34" charset="-120"/>
              </a:rPr>
              <a:t>Leakage-safe question-ID split </a:t>
            </a:r>
            <a:pPr algn="ctr" indent="0" marL="0">
              <a:buNone/>
            </a:pPr>
            <a:r>
              <a:rPr lang="en-US" sz="1250" dirty="0">
                <a:solidFill>
                  <a:srgbClr val="64748B"/>
                </a:solidFill>
                <a:latin typeface="Calibri" pitchFamily="34" charset="0"/>
                <a:ea typeface="Calibri" pitchFamily="34" charset="-122"/>
                <a:cs typeface="Calibri" pitchFamily="34" charset="-120"/>
              </a:rPr>
              <a:t>70 / 15 / 15  ·  216,158 pairs retained</a:t>
            </a:r>
            <a:endParaRPr lang="en-US" sz="1250" dirty="0"/>
          </a:p>
        </p:txBody>
      </p:sp>
      <p:sp>
        <p:nvSpPr>
          <p:cNvPr id="9" name="Lexical lane"/>
          <p:cNvSpPr/>
          <p:nvPr/>
        </p:nvSpPr>
        <p:spPr>
          <a:xfrm>
            <a:off x="457200" y="1920240"/>
            <a:ext cx="3977640" cy="1920240"/>
          </a:xfrm>
          <a:prstGeom prst="roundRect">
            <a:avLst>
              <a:gd name="adj" fmla="val 3810"/>
            </a:avLst>
          </a:prstGeom>
          <a:solidFill>
            <a:srgbClr val="FFFFFF"/>
          </a:solidFill>
          <a:ln w="12700">
            <a:solidFill>
              <a:srgbClr val="64748B"/>
            </a:solidFill>
            <a:prstDash val="solid"/>
          </a:ln>
        </p:spPr>
      </p:sp>
      <p:sp>
        <p:nvSpPr>
          <p:cNvPr id="10" name="Shape 8"/>
          <p:cNvSpPr/>
          <p:nvPr/>
        </p:nvSpPr>
        <p:spPr>
          <a:xfrm>
            <a:off x="457200" y="1920240"/>
            <a:ext cx="3977640" cy="329184"/>
          </a:xfrm>
          <a:prstGeom prst="rect">
            <a:avLst/>
          </a:prstGeom>
          <a:solidFill>
            <a:srgbClr val="64748B"/>
          </a:solidFill>
          <a:ln w="12700">
            <a:solidFill>
              <a:srgbClr val="64748B"/>
            </a:solidFill>
            <a:prstDash val="solid"/>
          </a:ln>
        </p:spPr>
      </p:sp>
      <p:sp>
        <p:nvSpPr>
          <p:cNvPr id="11" name="Text 9"/>
          <p:cNvSpPr txBox="1"/>
          <p:nvPr/>
        </p:nvSpPr>
        <p:spPr>
          <a:xfrm>
            <a:off x="594360" y="1920240"/>
            <a:ext cx="3749040" cy="329184"/>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LEXICAL BASELINE</a:t>
            </a:r>
            <a:endParaRPr lang="en-US" sz="1100" dirty="0"/>
          </a:p>
        </p:txBody>
      </p:sp>
      <p:sp>
        <p:nvSpPr>
          <p:cNvPr id="12" name="Shape 10"/>
          <p:cNvSpPr/>
          <p:nvPr/>
        </p:nvSpPr>
        <p:spPr>
          <a:xfrm>
            <a:off x="594360" y="2359152"/>
            <a:ext cx="3703320" cy="384048"/>
          </a:xfrm>
          <a:prstGeom prst="roundRect">
            <a:avLst>
              <a:gd name="adj" fmla="val 11905"/>
            </a:avLst>
          </a:prstGeom>
          <a:solidFill>
            <a:srgbClr val="EEF2F6"/>
          </a:solidFill>
          <a:ln w="12700">
            <a:solidFill>
              <a:srgbClr val="EEF2F6"/>
            </a:solidFill>
            <a:prstDash val="solid"/>
          </a:ln>
        </p:spPr>
      </p:sp>
      <p:sp>
        <p:nvSpPr>
          <p:cNvPr id="13" name="Text 11"/>
          <p:cNvSpPr txBox="1"/>
          <p:nvPr/>
        </p:nvSpPr>
        <p:spPr>
          <a:xfrm>
            <a:off x="685800" y="2359152"/>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TF-IDF</a:t>
            </a:r>
            <a:pPr indent="0" marL="0">
              <a:buNone/>
            </a:pPr>
            <a:r>
              <a:rPr lang="en-US" sz="1150" dirty="0">
                <a:solidFill>
                  <a:srgbClr val="1E293B"/>
                </a:solidFill>
                <a:latin typeface="Calibri" pitchFamily="34" charset="0"/>
                <a:ea typeface="Calibri" pitchFamily="34" charset="-122"/>
                <a:cs typeface="Calibri" pitchFamily="34" charset="-120"/>
              </a:rPr>
              <a:t>  unigrams + bigrams, 100k features</a:t>
            </a:r>
            <a:endParaRPr lang="en-US" sz="1150" dirty="0"/>
          </a:p>
        </p:txBody>
      </p:sp>
      <p:sp>
        <p:nvSpPr>
          <p:cNvPr id="14" name="Shape 12"/>
          <p:cNvSpPr/>
          <p:nvPr/>
        </p:nvSpPr>
        <p:spPr>
          <a:xfrm>
            <a:off x="2446020" y="2743200"/>
            <a:ext cx="0" cy="91440"/>
          </a:xfrm>
          <a:prstGeom prst="line">
            <a:avLst/>
          </a:prstGeom>
          <a:noFill/>
          <a:ln w="19050">
            <a:solidFill>
              <a:srgbClr val="64748B"/>
            </a:solidFill>
            <a:prstDash val="solid"/>
            <a:tailEnd type="triangle"/>
          </a:ln>
        </p:spPr>
      </p:sp>
      <p:sp>
        <p:nvSpPr>
          <p:cNvPr id="15" name="Shape 13"/>
          <p:cNvSpPr/>
          <p:nvPr/>
        </p:nvSpPr>
        <p:spPr>
          <a:xfrm>
            <a:off x="594360" y="2834640"/>
            <a:ext cx="3703320" cy="384048"/>
          </a:xfrm>
          <a:prstGeom prst="roundRect">
            <a:avLst>
              <a:gd name="adj" fmla="val 11905"/>
            </a:avLst>
          </a:prstGeom>
          <a:solidFill>
            <a:srgbClr val="EEF2F6"/>
          </a:solidFill>
          <a:ln w="12700">
            <a:solidFill>
              <a:srgbClr val="EEF2F6"/>
            </a:solidFill>
            <a:prstDash val="solid"/>
          </a:ln>
        </p:spPr>
      </p:sp>
      <p:sp>
        <p:nvSpPr>
          <p:cNvPr id="16" name="Text 14"/>
          <p:cNvSpPr txBox="1"/>
          <p:nvPr/>
        </p:nvSpPr>
        <p:spPr>
          <a:xfrm>
            <a:off x="685800" y="2834640"/>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Cosine similarity</a:t>
            </a:r>
            <a:endParaRPr lang="en-US" sz="1150" dirty="0"/>
          </a:p>
        </p:txBody>
      </p:sp>
      <p:sp>
        <p:nvSpPr>
          <p:cNvPr id="17" name="Shape 15"/>
          <p:cNvSpPr/>
          <p:nvPr/>
        </p:nvSpPr>
        <p:spPr>
          <a:xfrm>
            <a:off x="2446020" y="3218688"/>
            <a:ext cx="0" cy="91440"/>
          </a:xfrm>
          <a:prstGeom prst="line">
            <a:avLst/>
          </a:prstGeom>
          <a:noFill/>
          <a:ln w="19050">
            <a:solidFill>
              <a:srgbClr val="64748B"/>
            </a:solidFill>
            <a:prstDash val="solid"/>
            <a:tailEnd type="triangle"/>
          </a:ln>
        </p:spPr>
      </p:sp>
      <p:sp>
        <p:nvSpPr>
          <p:cNvPr id="18" name="Shape 16"/>
          <p:cNvSpPr/>
          <p:nvPr/>
        </p:nvSpPr>
        <p:spPr>
          <a:xfrm>
            <a:off x="594360" y="3310128"/>
            <a:ext cx="3703320" cy="384048"/>
          </a:xfrm>
          <a:prstGeom prst="roundRect">
            <a:avLst>
              <a:gd name="adj" fmla="val 11905"/>
            </a:avLst>
          </a:prstGeom>
          <a:solidFill>
            <a:srgbClr val="EEF2F6"/>
          </a:solidFill>
          <a:ln w="12700">
            <a:solidFill>
              <a:srgbClr val="EEF2F6"/>
            </a:solidFill>
            <a:prstDash val="solid"/>
          </a:ln>
        </p:spPr>
      </p:sp>
      <p:sp>
        <p:nvSpPr>
          <p:cNvPr id="19" name="Text 17"/>
          <p:cNvSpPr txBox="1"/>
          <p:nvPr/>
        </p:nvSpPr>
        <p:spPr>
          <a:xfrm>
            <a:off x="685800" y="3310128"/>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Threshold 0.17</a:t>
            </a:r>
            <a:endParaRPr lang="en-US" sz="1150" dirty="0"/>
          </a:p>
        </p:txBody>
      </p:sp>
      <p:sp>
        <p:nvSpPr>
          <p:cNvPr id="20" name="Semantic lane"/>
          <p:cNvSpPr/>
          <p:nvPr/>
        </p:nvSpPr>
        <p:spPr>
          <a:xfrm>
            <a:off x="4709160" y="1920240"/>
            <a:ext cx="3977640" cy="1920240"/>
          </a:xfrm>
          <a:prstGeom prst="roundRect">
            <a:avLst>
              <a:gd name="adj" fmla="val 3810"/>
            </a:avLst>
          </a:prstGeom>
          <a:solidFill>
            <a:srgbClr val="FFFFFF"/>
          </a:solidFill>
          <a:ln w="12700">
            <a:solidFill>
              <a:srgbClr val="0E9AA7"/>
            </a:solidFill>
            <a:prstDash val="solid"/>
          </a:ln>
        </p:spPr>
      </p:sp>
      <p:sp>
        <p:nvSpPr>
          <p:cNvPr id="21" name="Shape 19"/>
          <p:cNvSpPr/>
          <p:nvPr/>
        </p:nvSpPr>
        <p:spPr>
          <a:xfrm>
            <a:off x="4709160" y="1920240"/>
            <a:ext cx="3977640" cy="329184"/>
          </a:xfrm>
          <a:prstGeom prst="rect">
            <a:avLst/>
          </a:prstGeom>
          <a:solidFill>
            <a:srgbClr val="0E9AA7"/>
          </a:solidFill>
          <a:ln w="12700">
            <a:solidFill>
              <a:srgbClr val="0E9AA7"/>
            </a:solidFill>
            <a:prstDash val="solid"/>
          </a:ln>
        </p:spPr>
      </p:sp>
      <p:sp>
        <p:nvSpPr>
          <p:cNvPr id="22" name="Text 20"/>
          <p:cNvSpPr txBox="1"/>
          <p:nvPr/>
        </p:nvSpPr>
        <p:spPr>
          <a:xfrm>
            <a:off x="4846320" y="1920240"/>
            <a:ext cx="3749040" cy="329184"/>
          </a:xfrm>
          <a:prstGeom prst="rect">
            <a:avLst/>
          </a:prstGeom>
          <a:noFill/>
          <a:ln/>
        </p:spPr>
        <p:txBody>
          <a:bodyPr wrap="square" lIns="0" tIns="0" rIns="0" bIns="0" rtlCol="0" anchor="ctr"/>
          <a:lstStyle/>
          <a:p>
            <a:pPr indent="0" marL="0">
              <a:buNone/>
            </a:pPr>
            <a:r>
              <a:rPr lang="en-US" sz="1100" b="1" spc="200" kern="0" dirty="0">
                <a:solidFill>
                  <a:srgbClr val="FFFFFF"/>
                </a:solidFill>
                <a:latin typeface="Calibri" pitchFamily="34" charset="0"/>
                <a:ea typeface="Calibri" pitchFamily="34" charset="-122"/>
                <a:cs typeface="Calibri" pitchFamily="34" charset="-120"/>
              </a:rPr>
              <a:t>SEMANTIC MODEL</a:t>
            </a:r>
            <a:endParaRPr lang="en-US" sz="1100" dirty="0"/>
          </a:p>
        </p:txBody>
      </p:sp>
      <p:sp>
        <p:nvSpPr>
          <p:cNvPr id="23" name="Shape 21"/>
          <p:cNvSpPr/>
          <p:nvPr/>
        </p:nvSpPr>
        <p:spPr>
          <a:xfrm>
            <a:off x="4846320" y="2359152"/>
            <a:ext cx="3703320" cy="384048"/>
          </a:xfrm>
          <a:prstGeom prst="roundRect">
            <a:avLst>
              <a:gd name="adj" fmla="val 11905"/>
            </a:avLst>
          </a:prstGeom>
          <a:solidFill>
            <a:srgbClr val="EEF2F6"/>
          </a:solidFill>
          <a:ln w="12700">
            <a:solidFill>
              <a:srgbClr val="EEF2F6"/>
            </a:solidFill>
            <a:prstDash val="solid"/>
          </a:ln>
        </p:spPr>
      </p:sp>
      <p:sp>
        <p:nvSpPr>
          <p:cNvPr id="24" name="Text 22"/>
          <p:cNvSpPr txBox="1"/>
          <p:nvPr/>
        </p:nvSpPr>
        <p:spPr>
          <a:xfrm>
            <a:off x="4937760" y="2359152"/>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Sentence-BERT</a:t>
            </a:r>
            <a:pPr indent="0" marL="0">
              <a:buNone/>
            </a:pPr>
            <a:r>
              <a:rPr lang="en-US" sz="1150" dirty="0">
                <a:solidFill>
                  <a:srgbClr val="1E293B"/>
                </a:solidFill>
                <a:latin typeface="Calibri" pitchFamily="34" charset="0"/>
                <a:ea typeface="Calibri" pitchFamily="34" charset="-122"/>
                <a:cs typeface="Calibri" pitchFamily="34" charset="-120"/>
              </a:rPr>
              <a:t>  all-MiniLM-L6-v2, 384-dim</a:t>
            </a:r>
            <a:endParaRPr lang="en-US" sz="1150" dirty="0"/>
          </a:p>
        </p:txBody>
      </p:sp>
      <p:sp>
        <p:nvSpPr>
          <p:cNvPr id="25" name="Shape 23"/>
          <p:cNvSpPr/>
          <p:nvPr/>
        </p:nvSpPr>
        <p:spPr>
          <a:xfrm>
            <a:off x="6697980" y="2743200"/>
            <a:ext cx="0" cy="91440"/>
          </a:xfrm>
          <a:prstGeom prst="line">
            <a:avLst/>
          </a:prstGeom>
          <a:noFill/>
          <a:ln w="19050">
            <a:solidFill>
              <a:srgbClr val="0E9AA7"/>
            </a:solidFill>
            <a:prstDash val="solid"/>
            <a:tailEnd type="triangle"/>
          </a:ln>
        </p:spPr>
      </p:sp>
      <p:sp>
        <p:nvSpPr>
          <p:cNvPr id="26" name="Shape 24"/>
          <p:cNvSpPr/>
          <p:nvPr/>
        </p:nvSpPr>
        <p:spPr>
          <a:xfrm>
            <a:off x="4846320" y="2834640"/>
            <a:ext cx="3703320" cy="384048"/>
          </a:xfrm>
          <a:prstGeom prst="roundRect">
            <a:avLst>
              <a:gd name="adj" fmla="val 11905"/>
            </a:avLst>
          </a:prstGeom>
          <a:solidFill>
            <a:srgbClr val="EEF2F6"/>
          </a:solidFill>
          <a:ln w="12700">
            <a:solidFill>
              <a:srgbClr val="EEF2F6"/>
            </a:solidFill>
            <a:prstDash val="solid"/>
          </a:ln>
        </p:spPr>
      </p:sp>
      <p:sp>
        <p:nvSpPr>
          <p:cNvPr id="27" name="Text 25"/>
          <p:cNvSpPr txBox="1"/>
          <p:nvPr/>
        </p:nvSpPr>
        <p:spPr>
          <a:xfrm>
            <a:off x="4937760" y="2834640"/>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Cosine similarity</a:t>
            </a:r>
            <a:endParaRPr lang="en-US" sz="1150" dirty="0"/>
          </a:p>
        </p:txBody>
      </p:sp>
      <p:sp>
        <p:nvSpPr>
          <p:cNvPr id="28" name="Shape 26"/>
          <p:cNvSpPr/>
          <p:nvPr/>
        </p:nvSpPr>
        <p:spPr>
          <a:xfrm>
            <a:off x="6697980" y="3218688"/>
            <a:ext cx="0" cy="91440"/>
          </a:xfrm>
          <a:prstGeom prst="line">
            <a:avLst/>
          </a:prstGeom>
          <a:noFill/>
          <a:ln w="19050">
            <a:solidFill>
              <a:srgbClr val="0E9AA7"/>
            </a:solidFill>
            <a:prstDash val="solid"/>
            <a:tailEnd type="triangle"/>
          </a:ln>
        </p:spPr>
      </p:sp>
      <p:sp>
        <p:nvSpPr>
          <p:cNvPr id="29" name="Shape 27"/>
          <p:cNvSpPr/>
          <p:nvPr/>
        </p:nvSpPr>
        <p:spPr>
          <a:xfrm>
            <a:off x="4846320" y="3310128"/>
            <a:ext cx="3703320" cy="384048"/>
          </a:xfrm>
          <a:prstGeom prst="roundRect">
            <a:avLst>
              <a:gd name="adj" fmla="val 11905"/>
            </a:avLst>
          </a:prstGeom>
          <a:solidFill>
            <a:srgbClr val="EEF2F6"/>
          </a:solidFill>
          <a:ln w="12700">
            <a:solidFill>
              <a:srgbClr val="EEF2F6"/>
            </a:solidFill>
            <a:prstDash val="solid"/>
          </a:ln>
        </p:spPr>
      </p:sp>
      <p:sp>
        <p:nvSpPr>
          <p:cNvPr id="30" name="Text 28"/>
          <p:cNvSpPr txBox="1"/>
          <p:nvPr/>
        </p:nvSpPr>
        <p:spPr>
          <a:xfrm>
            <a:off x="4937760" y="3310128"/>
            <a:ext cx="3566160" cy="384048"/>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Threshold 0.73</a:t>
            </a:r>
            <a:endParaRPr lang="en-US" sz="1150" dirty="0"/>
          </a:p>
        </p:txBody>
      </p:sp>
      <p:sp>
        <p:nvSpPr>
          <p:cNvPr id="31" name="Shape 29"/>
          <p:cNvSpPr/>
          <p:nvPr/>
        </p:nvSpPr>
        <p:spPr>
          <a:xfrm>
            <a:off x="2446020" y="1691640"/>
            <a:ext cx="0" cy="228600"/>
          </a:xfrm>
          <a:prstGeom prst="line">
            <a:avLst/>
          </a:prstGeom>
          <a:noFill/>
          <a:ln w="19050">
            <a:solidFill>
              <a:srgbClr val="64748B"/>
            </a:solidFill>
            <a:prstDash val="solid"/>
            <a:tailEnd type="triangle"/>
          </a:ln>
        </p:spPr>
      </p:sp>
      <p:sp>
        <p:nvSpPr>
          <p:cNvPr id="32" name="Shape 30"/>
          <p:cNvSpPr/>
          <p:nvPr/>
        </p:nvSpPr>
        <p:spPr>
          <a:xfrm>
            <a:off x="6697980" y="1691640"/>
            <a:ext cx="0" cy="228600"/>
          </a:xfrm>
          <a:prstGeom prst="line">
            <a:avLst/>
          </a:prstGeom>
          <a:noFill/>
          <a:ln w="19050">
            <a:solidFill>
              <a:srgbClr val="64748B"/>
            </a:solidFill>
            <a:prstDash val="solid"/>
            <a:tailEnd type="triangle"/>
          </a:ln>
        </p:spPr>
      </p:sp>
      <p:sp>
        <p:nvSpPr>
          <p:cNvPr id="33" name="Shape 31"/>
          <p:cNvSpPr/>
          <p:nvPr/>
        </p:nvSpPr>
        <p:spPr>
          <a:xfrm>
            <a:off x="2446020" y="3840480"/>
            <a:ext cx="1394460" cy="228600"/>
          </a:xfrm>
          <a:prstGeom prst="line">
            <a:avLst/>
          </a:prstGeom>
          <a:noFill/>
          <a:ln w="19050">
            <a:solidFill>
              <a:srgbClr val="64748B"/>
            </a:solidFill>
            <a:prstDash val="solid"/>
            <a:tailEnd type="triangle"/>
          </a:ln>
        </p:spPr>
      </p:sp>
      <p:sp>
        <p:nvSpPr>
          <p:cNvPr id="34" name="Shape 32"/>
          <p:cNvSpPr/>
          <p:nvPr/>
        </p:nvSpPr>
        <p:spPr>
          <a:xfrm flipH="1">
            <a:off x="5303520" y="3840480"/>
            <a:ext cx="1394460" cy="228600"/>
          </a:xfrm>
          <a:prstGeom prst="line">
            <a:avLst/>
          </a:prstGeom>
          <a:noFill/>
          <a:ln w="19050">
            <a:solidFill>
              <a:srgbClr val="64748B"/>
            </a:solidFill>
            <a:prstDash val="solid"/>
            <a:tailEnd type="triangle"/>
          </a:ln>
        </p:spPr>
      </p:sp>
      <p:sp>
        <p:nvSpPr>
          <p:cNvPr id="35" name="Output"/>
          <p:cNvSpPr/>
          <p:nvPr/>
        </p:nvSpPr>
        <p:spPr>
          <a:xfrm>
            <a:off x="2651760" y="4069080"/>
            <a:ext cx="3840480" cy="457200"/>
          </a:xfrm>
          <a:prstGeom prst="roundRect">
            <a:avLst>
              <a:gd name="adj" fmla="val 16000"/>
            </a:avLst>
          </a:prstGeom>
          <a:solidFill>
            <a:srgbClr val="0F1B33"/>
          </a:solidFill>
          <a:ln w="12700">
            <a:solidFill>
              <a:srgbClr val="0F1B33"/>
            </a:solidFill>
            <a:prstDash val="solid"/>
          </a:ln>
        </p:spPr>
      </p:sp>
      <p:sp>
        <p:nvSpPr>
          <p:cNvPr id="36" name="Text 34"/>
          <p:cNvSpPr txBox="1"/>
          <p:nvPr/>
        </p:nvSpPr>
        <p:spPr>
          <a:xfrm>
            <a:off x="2651760" y="4069080"/>
            <a:ext cx="384048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Duplicate / Non-Duplicate  →  Evaluation + Audit</a:t>
            </a:r>
            <a:endParaRPr lang="en-US" sz="1250" dirty="0"/>
          </a:p>
        </p:txBody>
      </p:sp>
      <p:sp>
        <p:nvSpPr>
          <p:cNvPr id="37" name="Text 35"/>
          <p:cNvSpPr txBox="1"/>
          <p:nvPr/>
        </p:nvSpPr>
        <p:spPr>
          <a:xfrm>
            <a:off x="457200" y="4681728"/>
            <a:ext cx="8229600" cy="22860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Thresholds selected on validation data by maximising F1.  Sentence-BERT is pretrained, not fine-tuned.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3 · THE KEY RESULT</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200" b="1" dirty="0">
                <a:solidFill>
                  <a:srgbClr val="0F1B33"/>
                </a:solidFill>
                <a:latin typeface="Georgia" pitchFamily="34" charset="0"/>
                <a:ea typeface="Georgia" pitchFamily="34" charset="-122"/>
                <a:cs typeface="Georgia" pitchFamily="34" charset="-120"/>
              </a:rPr>
              <a:t>Semantic Embeddings Changed the Outcome</a:t>
            </a:r>
            <a:endParaRPr lang="en-US" sz="2200" dirty="0"/>
          </a:p>
        </p:txBody>
      </p:sp>
      <p:graphicFrame>
        <p:nvGraphicFramePr>
          <p:cNvPr id="4" name="Chart 0" descr=""/>
          <p:cNvGraphicFramePr/>
          <p:nvPr/>
        </p:nvGraphicFramePr>
        <p:xfrm>
          <a:off x="365760" y="114300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5" name="Gain Accuracy"/>
          <p:cNvSpPr/>
          <p:nvPr/>
        </p:nvSpPr>
        <p:spPr>
          <a:xfrm>
            <a:off x="6035040" y="1143000"/>
            <a:ext cx="2651760" cy="658368"/>
          </a:xfrm>
          <a:prstGeom prst="roundRect">
            <a:avLst>
              <a:gd name="adj" fmla="val 11111"/>
            </a:avLst>
          </a:prstGeom>
          <a:solidFill>
            <a:srgbClr val="FFFFFF"/>
          </a:solidFill>
          <a:ln w="12700">
            <a:solidFill>
              <a:srgbClr val="D5DBE3"/>
            </a:solidFill>
            <a:prstDash val="solid"/>
          </a:ln>
        </p:spPr>
      </p:sp>
      <p:sp>
        <p:nvSpPr>
          <p:cNvPr id="6" name="Text 3"/>
          <p:cNvSpPr txBox="1"/>
          <p:nvPr/>
        </p:nvSpPr>
        <p:spPr>
          <a:xfrm>
            <a:off x="6172200" y="1143000"/>
            <a:ext cx="1600200" cy="658368"/>
          </a:xfrm>
          <a:prstGeom prst="rect">
            <a:avLst/>
          </a:prstGeom>
          <a:noFill/>
          <a:ln/>
        </p:spPr>
        <p:txBody>
          <a:bodyPr wrap="square" lIns="0" tIns="0" rIns="0" bIns="0" rtlCol="0" anchor="ctr"/>
          <a:lstStyle/>
          <a:p>
            <a:pPr indent="0" marL="0">
              <a:buNone/>
            </a:pPr>
            <a:r>
              <a:rPr lang="en-US" sz="1800" b="1" dirty="0">
                <a:solidFill>
                  <a:srgbClr val="0E9AA7"/>
                </a:solidFill>
                <a:latin typeface="Georgia" pitchFamily="34" charset="0"/>
                <a:ea typeface="Georgia" pitchFamily="34" charset="-122"/>
                <a:cs typeface="Georgia" pitchFamily="34" charset="-120"/>
              </a:rPr>
              <a:t>+23.00 pp</a:t>
            </a:r>
            <a:endParaRPr lang="en-US" sz="1800" dirty="0"/>
          </a:p>
        </p:txBody>
      </p:sp>
      <p:sp>
        <p:nvSpPr>
          <p:cNvPr id="7" name="Text 4"/>
          <p:cNvSpPr txBox="1"/>
          <p:nvPr/>
        </p:nvSpPr>
        <p:spPr>
          <a:xfrm>
            <a:off x="7772400" y="1143000"/>
            <a:ext cx="86868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Accuracy</a:t>
            </a:r>
            <a:endParaRPr lang="en-US" sz="1200" dirty="0"/>
          </a:p>
        </p:txBody>
      </p:sp>
      <p:sp>
        <p:nvSpPr>
          <p:cNvPr id="8" name="Gain Precision"/>
          <p:cNvSpPr/>
          <p:nvPr/>
        </p:nvSpPr>
        <p:spPr>
          <a:xfrm>
            <a:off x="6035040" y="1892808"/>
            <a:ext cx="2651760" cy="658368"/>
          </a:xfrm>
          <a:prstGeom prst="roundRect">
            <a:avLst>
              <a:gd name="adj" fmla="val 11111"/>
            </a:avLst>
          </a:prstGeom>
          <a:solidFill>
            <a:srgbClr val="FFFFFF"/>
          </a:solidFill>
          <a:ln w="12700">
            <a:solidFill>
              <a:srgbClr val="D5DBE3"/>
            </a:solidFill>
            <a:prstDash val="solid"/>
          </a:ln>
        </p:spPr>
      </p:sp>
      <p:sp>
        <p:nvSpPr>
          <p:cNvPr id="9" name="Text 6"/>
          <p:cNvSpPr txBox="1"/>
          <p:nvPr/>
        </p:nvSpPr>
        <p:spPr>
          <a:xfrm>
            <a:off x="6172200" y="1892808"/>
            <a:ext cx="1600200" cy="658368"/>
          </a:xfrm>
          <a:prstGeom prst="rect">
            <a:avLst/>
          </a:prstGeom>
          <a:noFill/>
          <a:ln/>
        </p:spPr>
        <p:txBody>
          <a:bodyPr wrap="square" lIns="0" tIns="0" rIns="0" bIns="0" rtlCol="0" anchor="ctr"/>
          <a:lstStyle/>
          <a:p>
            <a:pPr indent="0" marL="0">
              <a:buNone/>
            </a:pPr>
            <a:r>
              <a:rPr lang="en-US" sz="1800" b="1" dirty="0">
                <a:solidFill>
                  <a:srgbClr val="0E9AA7"/>
                </a:solidFill>
                <a:latin typeface="Georgia" pitchFamily="34" charset="0"/>
                <a:ea typeface="Georgia" pitchFamily="34" charset="-122"/>
                <a:cs typeface="Georgia" pitchFamily="34" charset="-120"/>
              </a:rPr>
              <a:t>+18.53 pp</a:t>
            </a:r>
            <a:endParaRPr lang="en-US" sz="1800" dirty="0"/>
          </a:p>
        </p:txBody>
      </p:sp>
      <p:sp>
        <p:nvSpPr>
          <p:cNvPr id="10" name="Text 7"/>
          <p:cNvSpPr txBox="1"/>
          <p:nvPr/>
        </p:nvSpPr>
        <p:spPr>
          <a:xfrm>
            <a:off x="7772400" y="1892808"/>
            <a:ext cx="86868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Precision</a:t>
            </a:r>
            <a:endParaRPr lang="en-US" sz="1200" dirty="0"/>
          </a:p>
        </p:txBody>
      </p:sp>
      <p:sp>
        <p:nvSpPr>
          <p:cNvPr id="11" name="Gain F1-score"/>
          <p:cNvSpPr/>
          <p:nvPr/>
        </p:nvSpPr>
        <p:spPr>
          <a:xfrm>
            <a:off x="6035040" y="2642616"/>
            <a:ext cx="2651760" cy="658368"/>
          </a:xfrm>
          <a:prstGeom prst="roundRect">
            <a:avLst>
              <a:gd name="adj" fmla="val 11111"/>
            </a:avLst>
          </a:prstGeom>
          <a:solidFill>
            <a:srgbClr val="FFFFFF"/>
          </a:solidFill>
          <a:ln w="12700">
            <a:solidFill>
              <a:srgbClr val="D5DBE3"/>
            </a:solidFill>
            <a:prstDash val="solid"/>
          </a:ln>
        </p:spPr>
      </p:sp>
      <p:sp>
        <p:nvSpPr>
          <p:cNvPr id="12" name="Text 9"/>
          <p:cNvSpPr txBox="1"/>
          <p:nvPr/>
        </p:nvSpPr>
        <p:spPr>
          <a:xfrm>
            <a:off x="6172200" y="2642616"/>
            <a:ext cx="1600200" cy="658368"/>
          </a:xfrm>
          <a:prstGeom prst="rect">
            <a:avLst/>
          </a:prstGeom>
          <a:noFill/>
          <a:ln/>
        </p:spPr>
        <p:txBody>
          <a:bodyPr wrap="square" lIns="0" tIns="0" rIns="0" bIns="0" rtlCol="0" anchor="ctr"/>
          <a:lstStyle/>
          <a:p>
            <a:pPr indent="0" marL="0">
              <a:buNone/>
            </a:pPr>
            <a:r>
              <a:rPr lang="en-US" sz="1800" b="1" dirty="0">
                <a:solidFill>
                  <a:srgbClr val="0E9AA7"/>
                </a:solidFill>
                <a:latin typeface="Georgia" pitchFamily="34" charset="0"/>
                <a:ea typeface="Georgia" pitchFamily="34" charset="-122"/>
                <a:cs typeface="Georgia" pitchFamily="34" charset="-120"/>
              </a:rPr>
              <a:t>+14.11 pp</a:t>
            </a:r>
            <a:endParaRPr lang="en-US" sz="1800" dirty="0"/>
          </a:p>
        </p:txBody>
      </p:sp>
      <p:sp>
        <p:nvSpPr>
          <p:cNvPr id="13" name="Text 10"/>
          <p:cNvSpPr txBox="1"/>
          <p:nvPr/>
        </p:nvSpPr>
        <p:spPr>
          <a:xfrm>
            <a:off x="7772400" y="2642616"/>
            <a:ext cx="868680" cy="658368"/>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F1-score</a:t>
            </a:r>
            <a:endParaRPr lang="en-US" sz="1200" dirty="0"/>
          </a:p>
        </p:txBody>
      </p:sp>
      <p:sp>
        <p:nvSpPr>
          <p:cNvPr id="14" name="Recall caution"/>
          <p:cNvSpPr/>
          <p:nvPr/>
        </p:nvSpPr>
        <p:spPr>
          <a:xfrm>
            <a:off x="6035040" y="3392424"/>
            <a:ext cx="2651760" cy="658368"/>
          </a:xfrm>
          <a:prstGeom prst="roundRect">
            <a:avLst>
              <a:gd name="adj" fmla="val 11111"/>
            </a:avLst>
          </a:prstGeom>
          <a:solidFill>
            <a:srgbClr val="FDECEC"/>
          </a:solidFill>
          <a:ln w="12700">
            <a:solidFill>
              <a:srgbClr val="D64545"/>
            </a:solidFill>
            <a:prstDash val="solid"/>
          </a:ln>
        </p:spPr>
      </p:sp>
      <p:sp>
        <p:nvSpPr>
          <p:cNvPr id="15" name="Text 12"/>
          <p:cNvSpPr txBox="1"/>
          <p:nvPr/>
        </p:nvSpPr>
        <p:spPr>
          <a:xfrm>
            <a:off x="6172200" y="3392424"/>
            <a:ext cx="1600200" cy="658368"/>
          </a:xfrm>
          <a:prstGeom prst="rect">
            <a:avLst/>
          </a:prstGeom>
          <a:noFill/>
          <a:ln/>
        </p:spPr>
        <p:txBody>
          <a:bodyPr wrap="square" lIns="0" tIns="0" rIns="0" bIns="0" rtlCol="0" anchor="ctr"/>
          <a:lstStyle/>
          <a:p>
            <a:pPr indent="0" marL="0">
              <a:buNone/>
            </a:pPr>
            <a:r>
              <a:rPr lang="en-US" sz="1800" b="1" dirty="0">
                <a:solidFill>
                  <a:srgbClr val="D64545"/>
                </a:solidFill>
                <a:latin typeface="Georgia" pitchFamily="34" charset="0"/>
                <a:ea typeface="Georgia" pitchFamily="34" charset="-122"/>
                <a:cs typeface="Georgia" pitchFamily="34" charset="-120"/>
              </a:rPr>
              <a:t>−3.91 pp</a:t>
            </a:r>
            <a:endParaRPr lang="en-US" sz="1800" dirty="0"/>
          </a:p>
        </p:txBody>
      </p:sp>
      <p:sp>
        <p:nvSpPr>
          <p:cNvPr id="16" name="Text 13"/>
          <p:cNvSpPr txBox="1"/>
          <p:nvPr/>
        </p:nvSpPr>
        <p:spPr>
          <a:xfrm>
            <a:off x="7772400" y="3392424"/>
            <a:ext cx="868680" cy="658368"/>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Recall</a:t>
            </a:r>
            <a:endParaRPr lang="en-US" sz="1200" dirty="0"/>
          </a:p>
        </p:txBody>
      </p:sp>
      <p:sp>
        <p:nvSpPr>
          <p:cNvPr id="17" name="Takeaway"/>
          <p:cNvSpPr/>
          <p:nvPr/>
        </p:nvSpPr>
        <p:spPr>
          <a:xfrm>
            <a:off x="457200" y="4343400"/>
            <a:ext cx="8229600" cy="502920"/>
          </a:xfrm>
          <a:prstGeom prst="roundRect">
            <a:avLst>
              <a:gd name="adj" fmla="val 14545"/>
            </a:avLst>
          </a:prstGeom>
          <a:solidFill>
            <a:srgbClr val="0F1B33"/>
          </a:solidFill>
          <a:ln w="12700">
            <a:solidFill>
              <a:srgbClr val="0F1B33"/>
            </a:solidFill>
            <a:prstDash val="solid"/>
          </a:ln>
        </p:spPr>
      </p:sp>
      <p:sp>
        <p:nvSpPr>
          <p:cNvPr id="18" name="Text 15"/>
          <p:cNvSpPr txBox="1"/>
          <p:nvPr/>
        </p:nvSpPr>
        <p:spPr>
          <a:xfrm>
            <a:off x="640080" y="4343400"/>
            <a:ext cx="786384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Sentence-BERT improved overall classification quality, but not every metric.</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4 · MODEL AUDIT</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200" b="1" dirty="0">
                <a:solidFill>
                  <a:srgbClr val="0F1B33"/>
                </a:solidFill>
                <a:latin typeface="Georgia" pitchFamily="34" charset="0"/>
                <a:ea typeface="Georgia" pitchFamily="34" charset="-122"/>
                <a:cs typeface="Georgia" pitchFamily="34" charset="-120"/>
              </a:rPr>
              <a:t>Performance Depends on the Type of Question Pair</a:t>
            </a:r>
            <a:endParaRPr lang="en-US" sz="2200" dirty="0"/>
          </a:p>
        </p:txBody>
      </p:sp>
      <p:sp>
        <p:nvSpPr>
          <p:cNvPr id="4" name="Text 2"/>
          <p:cNvSpPr txBox="1"/>
          <p:nvPr/>
        </p:nvSpPr>
        <p:spPr>
          <a:xfrm>
            <a:off x="457200" y="1097280"/>
            <a:ext cx="4023360" cy="274320"/>
          </a:xfrm>
          <a:prstGeom prst="rect">
            <a:avLst/>
          </a:prstGeom>
          <a:noFill/>
          <a:ln/>
        </p:spPr>
        <p:txBody>
          <a:bodyPr wrap="square" lIns="0" tIns="0" rIns="0" bIns="0" rtlCol="0" anchor="ctr"/>
          <a:lstStyle/>
          <a:p>
            <a:pPr indent="0" marL="0">
              <a:buNone/>
            </a:pPr>
            <a:r>
              <a:rPr lang="en-US" sz="1200" b="1" spc="100" kern="0" dirty="0">
                <a:solidFill>
                  <a:srgbClr val="0F1B33"/>
                </a:solidFill>
                <a:latin typeface="Calibri" pitchFamily="34" charset="0"/>
                <a:ea typeface="Calibri" pitchFamily="34" charset="-122"/>
                <a:cs typeface="Calibri" pitchFamily="34" charset="-120"/>
              </a:rPr>
              <a:t>A · LEXICAL OVERLAP</a:t>
            </a:r>
            <a:endParaRPr lang="en-US" sz="1200" dirty="0"/>
          </a:p>
        </p:txBody>
      </p:sp>
      <p:graphicFrame>
        <p:nvGraphicFramePr>
          <p:cNvPr id="5" name="Chart 0" descr=""/>
          <p:cNvGraphicFramePr/>
          <p:nvPr/>
        </p:nvGraphicFramePr>
        <p:xfrm>
          <a:off x="365760" y="1371600"/>
          <a:ext cx="4206240" cy="2423160"/>
        </p:xfrm>
        <a:graphic xmlns:a="http://schemas.openxmlformats.org/drawingml/2006/main">
          <a:graphicData uri="http://schemas.openxmlformats.org/drawingml/2006/chart">
            <c:chart xmlns:c="http://schemas.openxmlformats.org/drawingml/2006/chart" r:id="rId1"/>
          </a:graphicData>
        </a:graphic>
      </p:graphicFrame>
      <p:sp>
        <p:nvSpPr>
          <p:cNvPr id="6" name="Insight A"/>
          <p:cNvSpPr/>
          <p:nvPr/>
        </p:nvSpPr>
        <p:spPr>
          <a:xfrm>
            <a:off x="457200" y="3840480"/>
            <a:ext cx="4023360" cy="457200"/>
          </a:xfrm>
          <a:prstGeom prst="roundRect">
            <a:avLst>
              <a:gd name="adj" fmla="val 16000"/>
            </a:avLst>
          </a:prstGeom>
          <a:solidFill>
            <a:srgbClr val="FFFFFF"/>
          </a:solidFill>
          <a:ln w="12700">
            <a:solidFill>
              <a:srgbClr val="D5DBE3"/>
            </a:solidFill>
            <a:prstDash val="solid"/>
          </a:ln>
        </p:spPr>
      </p:sp>
      <p:sp>
        <p:nvSpPr>
          <p:cNvPr id="7" name="Text 4"/>
          <p:cNvSpPr txBox="1"/>
          <p:nvPr/>
        </p:nvSpPr>
        <p:spPr>
          <a:xfrm>
            <a:off x="566928" y="3840480"/>
            <a:ext cx="3803904"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High-overlap pairs: higher recall, lower accuracy.</a:t>
            </a:r>
            <a:endParaRPr lang="en-US" sz="1150" dirty="0"/>
          </a:p>
        </p:txBody>
      </p:sp>
      <p:sp>
        <p:nvSpPr>
          <p:cNvPr id="8" name="Text 5"/>
          <p:cNvSpPr txBox="1"/>
          <p:nvPr/>
        </p:nvSpPr>
        <p:spPr>
          <a:xfrm>
            <a:off x="4663440" y="1097280"/>
            <a:ext cx="4023360" cy="274320"/>
          </a:xfrm>
          <a:prstGeom prst="rect">
            <a:avLst/>
          </a:prstGeom>
          <a:noFill/>
          <a:ln/>
        </p:spPr>
        <p:txBody>
          <a:bodyPr wrap="square" lIns="0" tIns="0" rIns="0" bIns="0" rtlCol="0" anchor="ctr"/>
          <a:lstStyle/>
          <a:p>
            <a:pPr indent="0" marL="0">
              <a:buNone/>
            </a:pPr>
            <a:r>
              <a:rPr lang="en-US" sz="1200" b="1" spc="100" kern="0" dirty="0">
                <a:solidFill>
                  <a:srgbClr val="0F1B33"/>
                </a:solidFill>
                <a:latin typeface="Calibri" pitchFamily="34" charset="0"/>
                <a:ea typeface="Calibri" pitchFamily="34" charset="-122"/>
                <a:cs typeface="Calibri" pitchFamily="34" charset="-120"/>
              </a:rPr>
              <a:t>B · QUESTION LENGTH</a:t>
            </a:r>
            <a:endParaRPr lang="en-US" sz="1200" dirty="0"/>
          </a:p>
        </p:txBody>
      </p:sp>
      <p:graphicFrame>
        <p:nvGraphicFramePr>
          <p:cNvPr id="9" name="Chart 1" descr=""/>
          <p:cNvGraphicFramePr/>
          <p:nvPr/>
        </p:nvGraphicFramePr>
        <p:xfrm>
          <a:off x="4572000" y="1371600"/>
          <a:ext cx="4206240" cy="2423160"/>
        </p:xfrm>
        <a:graphic xmlns:a="http://schemas.openxmlformats.org/drawingml/2006/main">
          <a:graphicData uri="http://schemas.openxmlformats.org/drawingml/2006/chart">
            <c:chart xmlns:c="http://schemas.openxmlformats.org/drawingml/2006/chart" r:id="rId2"/>
          </a:graphicData>
        </a:graphic>
      </p:graphicFrame>
      <p:sp>
        <p:nvSpPr>
          <p:cNvPr id="10" name="Insight B"/>
          <p:cNvSpPr/>
          <p:nvPr/>
        </p:nvSpPr>
        <p:spPr>
          <a:xfrm>
            <a:off x="4663440" y="3840480"/>
            <a:ext cx="4023360" cy="457200"/>
          </a:xfrm>
          <a:prstGeom prst="roundRect">
            <a:avLst>
              <a:gd name="adj" fmla="val 16000"/>
            </a:avLst>
          </a:prstGeom>
          <a:solidFill>
            <a:srgbClr val="FFFFFF"/>
          </a:solidFill>
          <a:ln w="12700">
            <a:solidFill>
              <a:srgbClr val="D5DBE3"/>
            </a:solidFill>
            <a:prstDash val="solid"/>
          </a:ln>
        </p:spPr>
      </p:sp>
      <p:sp>
        <p:nvSpPr>
          <p:cNvPr id="11" name="Text 7"/>
          <p:cNvSpPr txBox="1"/>
          <p:nvPr/>
        </p:nvSpPr>
        <p:spPr>
          <a:xfrm>
            <a:off x="4773168" y="3840480"/>
            <a:ext cx="3803904" cy="457200"/>
          </a:xfrm>
          <a:prstGeom prst="rect">
            <a:avLst/>
          </a:prstGeom>
          <a:noFill/>
          <a:ln/>
        </p:spPr>
        <p:txBody>
          <a:bodyPr wrap="square" lIns="0" tIns="0" rIns="0" bIns="0" rtlCol="0" anchor="ctr"/>
          <a:lstStyle/>
          <a:p>
            <a:pPr indent="0" marL="0">
              <a:buNone/>
            </a:pPr>
            <a:r>
              <a:rPr lang="en-US" sz="1150" b="1" dirty="0">
                <a:solidFill>
                  <a:srgbClr val="1E293B"/>
                </a:solidFill>
                <a:latin typeface="Calibri" pitchFamily="34" charset="0"/>
                <a:ea typeface="Calibri" pitchFamily="34" charset="-122"/>
                <a:cs typeface="Calibri" pitchFamily="34" charset="-120"/>
              </a:rPr>
              <a:t>Short: stronger recall and F1. Long: higher accuracy.</a:t>
            </a:r>
            <a:endParaRPr lang="en-US" sz="1150" dirty="0"/>
          </a:p>
        </p:txBody>
      </p:sp>
      <p:sp>
        <p:nvSpPr>
          <p:cNvPr id="12" name="Text 8"/>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Sentence-BERT test predictions, split at the median (overlap 0.2727; 10 words). The audit shows association, not causation.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5 · WHERE THE MODEL BREAKS</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200" b="1" dirty="0">
                <a:solidFill>
                  <a:srgbClr val="0F1B33"/>
                </a:solidFill>
                <a:latin typeface="Georgia" pitchFamily="34" charset="0"/>
                <a:ea typeface="Georgia" pitchFamily="34" charset="-122"/>
                <a:cs typeface="Georgia" pitchFamily="34" charset="-120"/>
              </a:rPr>
              <a:t>High Similarity Can Still Mean Different Things</a:t>
            </a:r>
            <a:endParaRPr lang="en-US" sz="2200" dirty="0"/>
          </a:p>
        </p:txBody>
      </p:sp>
      <p:sp>
        <p:nvSpPr>
          <p:cNvPr id="4" name="Text 2"/>
          <p:cNvSpPr txBox="1"/>
          <p:nvPr/>
        </p:nvSpPr>
        <p:spPr>
          <a:xfrm>
            <a:off x="457200" y="1097280"/>
            <a:ext cx="5303520" cy="228600"/>
          </a:xfrm>
          <a:prstGeom prst="rect">
            <a:avLst/>
          </a:prstGeom>
          <a:noFill/>
          <a:ln/>
        </p:spPr>
        <p:txBody>
          <a:bodyPr wrap="square" lIns="0" tIns="0" rIns="0" bIns="0" rtlCol="0" anchor="ctr"/>
          <a:lstStyle/>
          <a:p>
            <a:pPr indent="0" marL="0">
              <a:buNone/>
            </a:pPr>
            <a:r>
              <a:rPr lang="en-US" sz="1050" b="1" spc="200" kern="0" dirty="0">
                <a:solidFill>
                  <a:srgbClr val="D64545"/>
                </a:solidFill>
                <a:latin typeface="Calibri" pitchFamily="34" charset="0"/>
                <a:ea typeface="Calibri" pitchFamily="34" charset="-122"/>
                <a:cs typeface="Calibri" pitchFamily="34" charset="-120"/>
              </a:rPr>
              <a:t>FALSE POSITIVES  (actual: not duplicate)</a:t>
            </a:r>
            <a:endParaRPr lang="en-US" sz="1050" dirty="0"/>
          </a:p>
        </p:txBody>
      </p:sp>
      <p:sp>
        <p:nvSpPr>
          <p:cNvPr id="5" name="FP DIRECTION"/>
          <p:cNvSpPr/>
          <p:nvPr/>
        </p:nvSpPr>
        <p:spPr>
          <a:xfrm>
            <a:off x="457200" y="1371600"/>
            <a:ext cx="5303520" cy="804672"/>
          </a:xfrm>
          <a:prstGeom prst="roundRect">
            <a:avLst>
              <a:gd name="adj" fmla="val 9091"/>
            </a:avLst>
          </a:prstGeom>
          <a:solidFill>
            <a:srgbClr val="FFFFFF"/>
          </a:solidFill>
          <a:ln w="12700">
            <a:solidFill>
              <a:srgbClr val="D5DBE3"/>
            </a:solidFill>
            <a:prstDash val="solid"/>
          </a:ln>
        </p:spPr>
      </p:sp>
      <p:sp>
        <p:nvSpPr>
          <p:cNvPr id="6" name="Text 4"/>
          <p:cNvSpPr txBox="1"/>
          <p:nvPr/>
        </p:nvSpPr>
        <p:spPr>
          <a:xfrm>
            <a:off x="594360" y="1371600"/>
            <a:ext cx="1005840" cy="804672"/>
          </a:xfrm>
          <a:prstGeom prst="rect">
            <a:avLst/>
          </a:prstGeom>
          <a:noFill/>
          <a:ln/>
        </p:spPr>
        <p:txBody>
          <a:bodyPr wrap="square" lIns="0" tIns="0" rIns="0" bIns="0" rtlCol="0" anchor="ctr"/>
          <a:lstStyle/>
          <a:p>
            <a:pPr indent="0" marL="0">
              <a:buNone/>
            </a:pPr>
            <a:r>
              <a:rPr lang="en-US" sz="1050" b="1" spc="100" kern="0" dirty="0">
                <a:solidFill>
                  <a:srgbClr val="D64545"/>
                </a:solidFill>
                <a:latin typeface="Calibri" pitchFamily="34" charset="0"/>
                <a:ea typeface="Calibri" pitchFamily="34" charset="-122"/>
                <a:cs typeface="Calibri" pitchFamily="34" charset="-120"/>
              </a:rPr>
              <a:t>DIRECTION</a:t>
            </a:r>
            <a:endParaRPr lang="en-US" sz="1050" dirty="0"/>
          </a:p>
        </p:txBody>
      </p:sp>
      <p:sp>
        <p:nvSpPr>
          <p:cNvPr id="7" name="Text 5"/>
          <p:cNvSpPr txBox="1"/>
          <p:nvPr/>
        </p:nvSpPr>
        <p:spPr>
          <a:xfrm>
            <a:off x="1645920" y="1444752"/>
            <a:ext cx="3017520" cy="32918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Verizon → Straight Talk</a:t>
            </a:r>
            <a:endParaRPr lang="en-US" sz="1200" dirty="0"/>
          </a:p>
        </p:txBody>
      </p:sp>
      <p:sp>
        <p:nvSpPr>
          <p:cNvPr id="8" name="Text 6"/>
          <p:cNvSpPr txBox="1"/>
          <p:nvPr/>
        </p:nvSpPr>
        <p:spPr>
          <a:xfrm>
            <a:off x="1645920" y="1773936"/>
            <a:ext cx="3017520" cy="32918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Straight Talk → Verizon</a:t>
            </a:r>
            <a:endParaRPr lang="en-US" sz="1200" dirty="0"/>
          </a:p>
        </p:txBody>
      </p:sp>
      <p:sp>
        <p:nvSpPr>
          <p:cNvPr id="9" name="Text 7"/>
          <p:cNvSpPr txBox="1"/>
          <p:nvPr/>
        </p:nvSpPr>
        <p:spPr>
          <a:xfrm>
            <a:off x="4572000" y="1371600"/>
            <a:ext cx="1097280" cy="457200"/>
          </a:xfrm>
          <a:prstGeom prst="rect">
            <a:avLst/>
          </a:prstGeom>
          <a:noFill/>
          <a:ln/>
        </p:spPr>
        <p:txBody>
          <a:bodyPr wrap="square" lIns="0" tIns="0" rIns="0" bIns="0" rtlCol="0" anchor="ctr"/>
          <a:lstStyle/>
          <a:p>
            <a:pPr algn="r" indent="0" marL="0">
              <a:buNone/>
            </a:pPr>
            <a:r>
              <a:rPr lang="en-US" sz="1700" b="1" dirty="0">
                <a:solidFill>
                  <a:srgbClr val="D64545"/>
                </a:solidFill>
                <a:latin typeface="Georgia" pitchFamily="34" charset="0"/>
                <a:ea typeface="Georgia" pitchFamily="34" charset="-122"/>
                <a:cs typeface="Georgia" pitchFamily="34" charset="-120"/>
              </a:rPr>
              <a:t>0.9950</a:t>
            </a:r>
            <a:endParaRPr lang="en-US" sz="1700" dirty="0"/>
          </a:p>
        </p:txBody>
      </p:sp>
      <p:sp>
        <p:nvSpPr>
          <p:cNvPr id="10" name="Text 8"/>
          <p:cNvSpPr txBox="1"/>
          <p:nvPr/>
        </p:nvSpPr>
        <p:spPr>
          <a:xfrm>
            <a:off x="4572000" y="1783080"/>
            <a:ext cx="109728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similarity</a:t>
            </a:r>
            <a:endParaRPr lang="en-US" sz="950" dirty="0"/>
          </a:p>
        </p:txBody>
      </p:sp>
      <p:sp>
        <p:nvSpPr>
          <p:cNvPr id="11" name="FP NUMBERS"/>
          <p:cNvSpPr/>
          <p:nvPr/>
        </p:nvSpPr>
        <p:spPr>
          <a:xfrm>
            <a:off x="457200" y="2267712"/>
            <a:ext cx="5303520" cy="804672"/>
          </a:xfrm>
          <a:prstGeom prst="roundRect">
            <a:avLst>
              <a:gd name="adj" fmla="val 9091"/>
            </a:avLst>
          </a:prstGeom>
          <a:solidFill>
            <a:srgbClr val="FFFFFF"/>
          </a:solidFill>
          <a:ln w="12700">
            <a:solidFill>
              <a:srgbClr val="D5DBE3"/>
            </a:solidFill>
            <a:prstDash val="solid"/>
          </a:ln>
        </p:spPr>
      </p:sp>
      <p:sp>
        <p:nvSpPr>
          <p:cNvPr id="12" name="Text 10"/>
          <p:cNvSpPr txBox="1"/>
          <p:nvPr/>
        </p:nvSpPr>
        <p:spPr>
          <a:xfrm>
            <a:off x="594360" y="2267712"/>
            <a:ext cx="1005840" cy="804672"/>
          </a:xfrm>
          <a:prstGeom prst="rect">
            <a:avLst/>
          </a:prstGeom>
          <a:noFill/>
          <a:ln/>
        </p:spPr>
        <p:txBody>
          <a:bodyPr wrap="square" lIns="0" tIns="0" rIns="0" bIns="0" rtlCol="0" anchor="ctr"/>
          <a:lstStyle/>
          <a:p>
            <a:pPr indent="0" marL="0">
              <a:buNone/>
            </a:pPr>
            <a:r>
              <a:rPr lang="en-US" sz="1050" b="1" spc="100" kern="0" dirty="0">
                <a:solidFill>
                  <a:srgbClr val="D64545"/>
                </a:solidFill>
                <a:latin typeface="Calibri" pitchFamily="34" charset="0"/>
                <a:ea typeface="Calibri" pitchFamily="34" charset="-122"/>
                <a:cs typeface="Calibri" pitchFamily="34" charset="-120"/>
              </a:rPr>
              <a:t>NUMBERS</a:t>
            </a:r>
            <a:endParaRPr lang="en-US" sz="1050" dirty="0"/>
          </a:p>
        </p:txBody>
      </p:sp>
      <p:sp>
        <p:nvSpPr>
          <p:cNvPr id="13" name="Text 11"/>
          <p:cNvSpPr txBox="1"/>
          <p:nvPr/>
        </p:nvSpPr>
        <p:spPr>
          <a:xfrm>
            <a:off x="1645920" y="2340864"/>
            <a:ext cx="3017520" cy="32918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make around £1M · capital &lt; £2,000</a:t>
            </a:r>
            <a:endParaRPr lang="en-US" sz="1200" dirty="0"/>
          </a:p>
        </p:txBody>
      </p:sp>
      <p:sp>
        <p:nvSpPr>
          <p:cNvPr id="14" name="Text 12"/>
          <p:cNvSpPr txBox="1"/>
          <p:nvPr/>
        </p:nvSpPr>
        <p:spPr>
          <a:xfrm>
            <a:off x="1645920" y="2670048"/>
            <a:ext cx="3017520" cy="329184"/>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make more than £1M · capital &lt; £5,000</a:t>
            </a:r>
            <a:endParaRPr lang="en-US" sz="1200" dirty="0"/>
          </a:p>
        </p:txBody>
      </p:sp>
      <p:sp>
        <p:nvSpPr>
          <p:cNvPr id="15" name="Text 13"/>
          <p:cNvSpPr txBox="1"/>
          <p:nvPr/>
        </p:nvSpPr>
        <p:spPr>
          <a:xfrm>
            <a:off x="4572000" y="2267712"/>
            <a:ext cx="1097280" cy="457200"/>
          </a:xfrm>
          <a:prstGeom prst="rect">
            <a:avLst/>
          </a:prstGeom>
          <a:noFill/>
          <a:ln/>
        </p:spPr>
        <p:txBody>
          <a:bodyPr wrap="square" lIns="0" tIns="0" rIns="0" bIns="0" rtlCol="0" anchor="ctr"/>
          <a:lstStyle/>
          <a:p>
            <a:pPr algn="r" indent="0" marL="0">
              <a:buNone/>
            </a:pPr>
            <a:r>
              <a:rPr lang="en-US" sz="1700" b="1" dirty="0">
                <a:solidFill>
                  <a:srgbClr val="D64545"/>
                </a:solidFill>
                <a:latin typeface="Georgia" pitchFamily="34" charset="0"/>
                <a:ea typeface="Georgia" pitchFamily="34" charset="-122"/>
                <a:cs typeface="Georgia" pitchFamily="34" charset="-120"/>
              </a:rPr>
              <a:t>0.9908</a:t>
            </a:r>
            <a:endParaRPr lang="en-US" sz="1700" dirty="0"/>
          </a:p>
        </p:txBody>
      </p:sp>
      <p:sp>
        <p:nvSpPr>
          <p:cNvPr id="16" name="Text 14"/>
          <p:cNvSpPr txBox="1"/>
          <p:nvPr/>
        </p:nvSpPr>
        <p:spPr>
          <a:xfrm>
            <a:off x="4572000" y="2679192"/>
            <a:ext cx="109728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similarity</a:t>
            </a:r>
            <a:endParaRPr lang="en-US" sz="950" dirty="0"/>
          </a:p>
        </p:txBody>
      </p:sp>
      <p:sp>
        <p:nvSpPr>
          <p:cNvPr id="17" name="FP DATES"/>
          <p:cNvSpPr/>
          <p:nvPr/>
        </p:nvSpPr>
        <p:spPr>
          <a:xfrm>
            <a:off x="457200" y="3163824"/>
            <a:ext cx="5303520" cy="804672"/>
          </a:xfrm>
          <a:prstGeom prst="roundRect">
            <a:avLst>
              <a:gd name="adj" fmla="val 9091"/>
            </a:avLst>
          </a:prstGeom>
          <a:solidFill>
            <a:srgbClr val="FFFFFF"/>
          </a:solidFill>
          <a:ln w="12700">
            <a:solidFill>
              <a:srgbClr val="D5DBE3"/>
            </a:solidFill>
            <a:prstDash val="solid"/>
          </a:ln>
        </p:spPr>
      </p:sp>
      <p:sp>
        <p:nvSpPr>
          <p:cNvPr id="18" name="Text 16"/>
          <p:cNvSpPr txBox="1"/>
          <p:nvPr/>
        </p:nvSpPr>
        <p:spPr>
          <a:xfrm>
            <a:off x="594360" y="3163824"/>
            <a:ext cx="1005840" cy="804672"/>
          </a:xfrm>
          <a:prstGeom prst="rect">
            <a:avLst/>
          </a:prstGeom>
          <a:noFill/>
          <a:ln/>
        </p:spPr>
        <p:txBody>
          <a:bodyPr wrap="square" lIns="0" tIns="0" rIns="0" bIns="0" rtlCol="0" anchor="ctr"/>
          <a:lstStyle/>
          <a:p>
            <a:pPr indent="0" marL="0">
              <a:buNone/>
            </a:pPr>
            <a:r>
              <a:rPr lang="en-US" sz="1050" b="1" spc="100" kern="0" dirty="0">
                <a:solidFill>
                  <a:srgbClr val="D64545"/>
                </a:solidFill>
                <a:latin typeface="Calibri" pitchFamily="34" charset="0"/>
                <a:ea typeface="Calibri" pitchFamily="34" charset="-122"/>
                <a:cs typeface="Calibri" pitchFamily="34" charset="-120"/>
              </a:rPr>
              <a:t>DATES</a:t>
            </a:r>
            <a:endParaRPr lang="en-US" sz="1050" dirty="0"/>
          </a:p>
        </p:txBody>
      </p:sp>
      <p:sp>
        <p:nvSpPr>
          <p:cNvPr id="19" name="Text 17"/>
          <p:cNvSpPr txBox="1"/>
          <p:nvPr/>
        </p:nvSpPr>
        <p:spPr>
          <a:xfrm>
            <a:off x="1645920" y="3236976"/>
            <a:ext cx="3017520" cy="32918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next Infosys batch after </a:t>
            </a:r>
            <a:pPr indent="0" marL="0">
              <a:buNone/>
            </a:pPr>
            <a:r>
              <a:rPr lang="en-US" sz="1200" b="1" dirty="0">
                <a:solidFill>
                  <a:srgbClr val="D64545"/>
                </a:solidFill>
                <a:latin typeface="Calibri" pitchFamily="34" charset="0"/>
                <a:ea typeface="Calibri" pitchFamily="34" charset="-122"/>
                <a:cs typeface="Calibri" pitchFamily="34" charset="-120"/>
              </a:rPr>
              <a:t>November 21st</a:t>
            </a:r>
            <a:endParaRPr lang="en-US" sz="1200" dirty="0"/>
          </a:p>
        </p:txBody>
      </p:sp>
      <p:sp>
        <p:nvSpPr>
          <p:cNvPr id="20" name="Text 18"/>
          <p:cNvSpPr txBox="1"/>
          <p:nvPr/>
        </p:nvSpPr>
        <p:spPr>
          <a:xfrm>
            <a:off x="1645920" y="3566160"/>
            <a:ext cx="3017520" cy="32918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next Infosys batch after </a:t>
            </a:r>
            <a:pPr indent="0" marL="0">
              <a:buNone/>
            </a:pPr>
            <a:r>
              <a:rPr lang="en-US" sz="1200" b="1" dirty="0">
                <a:solidFill>
                  <a:srgbClr val="D64545"/>
                </a:solidFill>
                <a:latin typeface="Calibri" pitchFamily="34" charset="0"/>
                <a:ea typeface="Calibri" pitchFamily="34" charset="-122"/>
                <a:cs typeface="Calibri" pitchFamily="34" charset="-120"/>
              </a:rPr>
              <a:t>November 7th</a:t>
            </a:r>
            <a:endParaRPr lang="en-US" sz="1200" dirty="0"/>
          </a:p>
        </p:txBody>
      </p:sp>
      <p:sp>
        <p:nvSpPr>
          <p:cNvPr id="21" name="Text 19"/>
          <p:cNvSpPr txBox="1"/>
          <p:nvPr/>
        </p:nvSpPr>
        <p:spPr>
          <a:xfrm>
            <a:off x="4572000" y="3163824"/>
            <a:ext cx="1097280" cy="457200"/>
          </a:xfrm>
          <a:prstGeom prst="rect">
            <a:avLst/>
          </a:prstGeom>
          <a:noFill/>
          <a:ln/>
        </p:spPr>
        <p:txBody>
          <a:bodyPr wrap="square" lIns="0" tIns="0" rIns="0" bIns="0" rtlCol="0" anchor="ctr"/>
          <a:lstStyle/>
          <a:p>
            <a:pPr algn="r" indent="0" marL="0">
              <a:buNone/>
            </a:pPr>
            <a:r>
              <a:rPr lang="en-US" sz="1700" b="1" dirty="0">
                <a:solidFill>
                  <a:srgbClr val="D64545"/>
                </a:solidFill>
                <a:latin typeface="Georgia" pitchFamily="34" charset="0"/>
                <a:ea typeface="Georgia" pitchFamily="34" charset="-122"/>
                <a:cs typeface="Georgia" pitchFamily="34" charset="-120"/>
              </a:rPr>
              <a:t>0.9904</a:t>
            </a:r>
            <a:endParaRPr lang="en-US" sz="1700" dirty="0"/>
          </a:p>
        </p:txBody>
      </p:sp>
      <p:sp>
        <p:nvSpPr>
          <p:cNvPr id="22" name="Text 20"/>
          <p:cNvSpPr txBox="1"/>
          <p:nvPr/>
        </p:nvSpPr>
        <p:spPr>
          <a:xfrm>
            <a:off x="4572000" y="3575304"/>
            <a:ext cx="1097280" cy="274320"/>
          </a:xfrm>
          <a:prstGeom prst="rect">
            <a:avLst/>
          </a:prstGeom>
          <a:noFill/>
          <a:ln/>
        </p:spPr>
        <p:txBody>
          <a:bodyPr wrap="square" lIns="0" tIns="0" rIns="0" bIns="0" rtlCol="0" anchor="ctr"/>
          <a:lstStyle/>
          <a:p>
            <a:pPr algn="r" indent="0" marL="0">
              <a:buNone/>
            </a:pPr>
            <a:r>
              <a:rPr lang="en-US" sz="950" dirty="0">
                <a:solidFill>
                  <a:srgbClr val="64748B"/>
                </a:solidFill>
                <a:latin typeface="Calibri" pitchFamily="34" charset="0"/>
                <a:ea typeface="Calibri" pitchFamily="34" charset="-122"/>
                <a:cs typeface="Calibri" pitchFamily="34" charset="-120"/>
              </a:rPr>
              <a:t>similarity</a:t>
            </a:r>
            <a:endParaRPr lang="en-US" sz="950" dirty="0"/>
          </a:p>
        </p:txBody>
      </p:sp>
      <p:sp>
        <p:nvSpPr>
          <p:cNvPr id="23" name="Text 21"/>
          <p:cNvSpPr txBox="1"/>
          <p:nvPr/>
        </p:nvSpPr>
        <p:spPr>
          <a:xfrm>
            <a:off x="6035040" y="1097280"/>
            <a:ext cx="2651760" cy="228600"/>
          </a:xfrm>
          <a:prstGeom prst="rect">
            <a:avLst/>
          </a:prstGeom>
          <a:noFill/>
          <a:ln/>
        </p:spPr>
        <p:txBody>
          <a:bodyPr wrap="square" lIns="0" tIns="0" rIns="0" bIns="0" rtlCol="0" anchor="ctr"/>
          <a:lstStyle/>
          <a:p>
            <a:pPr indent="0" marL="0">
              <a:buNone/>
            </a:pPr>
            <a:r>
              <a:rPr lang="en-US" sz="950" b="1" spc="100" kern="0" dirty="0">
                <a:solidFill>
                  <a:srgbClr val="0E9AA7"/>
                </a:solidFill>
                <a:latin typeface="Calibri" pitchFamily="34" charset="0"/>
                <a:ea typeface="Calibri" pitchFamily="34" charset="-122"/>
                <a:cs typeface="Calibri" pitchFamily="34" charset="-120"/>
              </a:rPr>
              <a:t>FALSE NEGATIVE (actual: duplicate)</a:t>
            </a:r>
            <a:endParaRPr lang="en-US" sz="950" dirty="0"/>
          </a:p>
        </p:txBody>
      </p:sp>
      <p:sp>
        <p:nvSpPr>
          <p:cNvPr id="24" name="FN card"/>
          <p:cNvSpPr/>
          <p:nvPr/>
        </p:nvSpPr>
        <p:spPr>
          <a:xfrm>
            <a:off x="6035040" y="1371600"/>
            <a:ext cx="2651760" cy="1828800"/>
          </a:xfrm>
          <a:prstGeom prst="roundRect">
            <a:avLst>
              <a:gd name="adj" fmla="val 4000"/>
            </a:avLst>
          </a:prstGeom>
          <a:solidFill>
            <a:srgbClr val="FFFFFF"/>
          </a:solidFill>
          <a:ln w="12700">
            <a:solidFill>
              <a:srgbClr val="D5DBE3"/>
            </a:solidFill>
            <a:prstDash val="solid"/>
          </a:ln>
        </p:spPr>
      </p:sp>
      <p:sp>
        <p:nvSpPr>
          <p:cNvPr id="25" name="Text 23"/>
          <p:cNvSpPr txBox="1"/>
          <p:nvPr/>
        </p:nvSpPr>
        <p:spPr>
          <a:xfrm>
            <a:off x="6172200" y="1444752"/>
            <a:ext cx="2377440" cy="36576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“How do I get rid of lethargy?”</a:t>
            </a:r>
            <a:endParaRPr lang="en-US" sz="1150" dirty="0"/>
          </a:p>
        </p:txBody>
      </p:sp>
      <p:sp>
        <p:nvSpPr>
          <p:cNvPr id="26" name="Text 24"/>
          <p:cNvSpPr txBox="1"/>
          <p:nvPr/>
        </p:nvSpPr>
        <p:spPr>
          <a:xfrm>
            <a:off x="6172200" y="1810512"/>
            <a:ext cx="237744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“…good ways to get rid of weekend lethargy?”</a:t>
            </a:r>
            <a:endParaRPr lang="en-US" sz="1150" dirty="0"/>
          </a:p>
        </p:txBody>
      </p:sp>
      <p:sp>
        <p:nvSpPr>
          <p:cNvPr id="27" name="Shape 25"/>
          <p:cNvSpPr/>
          <p:nvPr/>
        </p:nvSpPr>
        <p:spPr>
          <a:xfrm>
            <a:off x="6263640" y="2743200"/>
            <a:ext cx="2194560" cy="0"/>
          </a:xfrm>
          <a:prstGeom prst="line">
            <a:avLst/>
          </a:prstGeom>
          <a:noFill/>
          <a:ln w="25400">
            <a:solidFill>
              <a:srgbClr val="D5DBE3"/>
            </a:solidFill>
            <a:prstDash val="solid"/>
          </a:ln>
        </p:spPr>
      </p:sp>
      <p:sp>
        <p:nvSpPr>
          <p:cNvPr id="28" name="Shape 26"/>
          <p:cNvSpPr/>
          <p:nvPr/>
        </p:nvSpPr>
        <p:spPr>
          <a:xfrm>
            <a:off x="7360920" y="2560320"/>
            <a:ext cx="0" cy="365760"/>
          </a:xfrm>
          <a:prstGeom prst="line">
            <a:avLst/>
          </a:prstGeom>
          <a:noFill/>
          <a:ln w="28575">
            <a:solidFill>
              <a:srgbClr val="D64545"/>
            </a:solidFill>
            <a:prstDash val="dash"/>
          </a:ln>
        </p:spPr>
      </p:sp>
      <p:sp>
        <p:nvSpPr>
          <p:cNvPr id="29" name="Shape 27"/>
          <p:cNvSpPr/>
          <p:nvPr/>
        </p:nvSpPr>
        <p:spPr>
          <a:xfrm>
            <a:off x="7260336" y="2679192"/>
            <a:ext cx="128016" cy="128016"/>
          </a:xfrm>
          <a:prstGeom prst="ellipse">
            <a:avLst/>
          </a:prstGeom>
          <a:solidFill>
            <a:srgbClr val="0E9AA7"/>
          </a:solidFill>
          <a:ln w="12700">
            <a:solidFill>
              <a:srgbClr val="FFFFFF"/>
            </a:solidFill>
            <a:prstDash val="solid"/>
          </a:ln>
        </p:spPr>
      </p:sp>
      <p:sp>
        <p:nvSpPr>
          <p:cNvPr id="30" name="Text 28"/>
          <p:cNvSpPr txBox="1"/>
          <p:nvPr/>
        </p:nvSpPr>
        <p:spPr>
          <a:xfrm>
            <a:off x="6217920" y="2834640"/>
            <a:ext cx="1097280" cy="228600"/>
          </a:xfrm>
          <a:prstGeom prst="rect">
            <a:avLst/>
          </a:prstGeom>
          <a:noFill/>
          <a:ln/>
        </p:spPr>
        <p:txBody>
          <a:bodyPr wrap="square" lIns="0" tIns="0" rIns="0" bIns="0" rtlCol="0" anchor="ctr"/>
          <a:lstStyle/>
          <a:p>
            <a:pPr algn="r" indent="0" marL="0">
              <a:buNone/>
            </a:pPr>
            <a:r>
              <a:rPr lang="en-US" sz="1000" b="1" dirty="0">
                <a:solidFill>
                  <a:srgbClr val="0E9AA7"/>
                </a:solidFill>
                <a:latin typeface="Calibri" pitchFamily="34" charset="0"/>
                <a:ea typeface="Calibri" pitchFamily="34" charset="-122"/>
                <a:cs typeface="Calibri" pitchFamily="34" charset="-120"/>
              </a:rPr>
              <a:t>score 0.7296</a:t>
            </a:r>
            <a:endParaRPr lang="en-US" sz="1000" dirty="0"/>
          </a:p>
        </p:txBody>
      </p:sp>
      <p:sp>
        <p:nvSpPr>
          <p:cNvPr id="31" name="Text 29"/>
          <p:cNvSpPr txBox="1"/>
          <p:nvPr/>
        </p:nvSpPr>
        <p:spPr>
          <a:xfrm>
            <a:off x="7424928" y="2834640"/>
            <a:ext cx="1188720" cy="228600"/>
          </a:xfrm>
          <a:prstGeom prst="rect">
            <a:avLst/>
          </a:prstGeom>
          <a:noFill/>
          <a:ln/>
        </p:spPr>
        <p:txBody>
          <a:bodyPr wrap="square" lIns="0" tIns="0" rIns="0" bIns="0" rtlCol="0" anchor="ctr"/>
          <a:lstStyle/>
          <a:p>
            <a:pPr indent="0" marL="0">
              <a:buNone/>
            </a:pPr>
            <a:r>
              <a:rPr lang="en-US" sz="1000" b="1" dirty="0">
                <a:solidFill>
                  <a:srgbClr val="D64545"/>
                </a:solidFill>
                <a:latin typeface="Calibri" pitchFamily="34" charset="0"/>
                <a:ea typeface="Calibri" pitchFamily="34" charset="-122"/>
                <a:cs typeface="Calibri" pitchFamily="34" charset="-120"/>
              </a:rPr>
              <a:t>threshold 0.73</a:t>
            </a:r>
            <a:endParaRPr lang="en-US" sz="1000" dirty="0"/>
          </a:p>
        </p:txBody>
      </p:sp>
      <p:sp>
        <p:nvSpPr>
          <p:cNvPr id="32" name="FP count"/>
          <p:cNvSpPr/>
          <p:nvPr/>
        </p:nvSpPr>
        <p:spPr>
          <a:xfrm>
            <a:off x="6035040" y="3337560"/>
            <a:ext cx="1280160" cy="777240"/>
          </a:xfrm>
          <a:prstGeom prst="roundRect">
            <a:avLst>
              <a:gd name="adj" fmla="val 9412"/>
            </a:avLst>
          </a:prstGeom>
          <a:solidFill>
            <a:srgbClr val="FFFFFF"/>
          </a:solidFill>
          <a:ln w="12700">
            <a:solidFill>
              <a:srgbClr val="D5DBE3"/>
            </a:solidFill>
            <a:prstDash val="solid"/>
          </a:ln>
        </p:spPr>
      </p:sp>
      <p:sp>
        <p:nvSpPr>
          <p:cNvPr id="33" name="Text 31"/>
          <p:cNvSpPr txBox="1"/>
          <p:nvPr/>
        </p:nvSpPr>
        <p:spPr>
          <a:xfrm>
            <a:off x="6035040" y="3364992"/>
            <a:ext cx="1280160" cy="457200"/>
          </a:xfrm>
          <a:prstGeom prst="rect">
            <a:avLst/>
          </a:prstGeom>
          <a:noFill/>
          <a:ln/>
        </p:spPr>
        <p:txBody>
          <a:bodyPr wrap="square" lIns="0" tIns="0" rIns="0" bIns="0" rtlCol="0" anchor="ctr"/>
          <a:lstStyle/>
          <a:p>
            <a:pPr algn="ctr" indent="0" marL="0">
              <a:buNone/>
            </a:pPr>
            <a:r>
              <a:rPr lang="en-US" sz="2200" b="1" dirty="0">
                <a:solidFill>
                  <a:srgbClr val="D64545"/>
                </a:solidFill>
                <a:latin typeface="Georgia" pitchFamily="34" charset="0"/>
                <a:ea typeface="Georgia" pitchFamily="34" charset="-122"/>
                <a:cs typeface="Georgia" pitchFamily="34" charset="-120"/>
              </a:rPr>
              <a:t>1,817</a:t>
            </a:r>
            <a:endParaRPr lang="en-US" sz="2200" dirty="0"/>
          </a:p>
        </p:txBody>
      </p:sp>
      <p:sp>
        <p:nvSpPr>
          <p:cNvPr id="34" name="Text 32"/>
          <p:cNvSpPr txBox="1"/>
          <p:nvPr/>
        </p:nvSpPr>
        <p:spPr>
          <a:xfrm>
            <a:off x="6035040" y="3785616"/>
            <a:ext cx="12801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false positives</a:t>
            </a:r>
            <a:endParaRPr lang="en-US" sz="1000" dirty="0"/>
          </a:p>
        </p:txBody>
      </p:sp>
      <p:sp>
        <p:nvSpPr>
          <p:cNvPr id="35" name="FN count"/>
          <p:cNvSpPr/>
          <p:nvPr/>
        </p:nvSpPr>
        <p:spPr>
          <a:xfrm>
            <a:off x="7406640" y="3337560"/>
            <a:ext cx="1280160" cy="777240"/>
          </a:xfrm>
          <a:prstGeom prst="roundRect">
            <a:avLst>
              <a:gd name="adj" fmla="val 9412"/>
            </a:avLst>
          </a:prstGeom>
          <a:solidFill>
            <a:srgbClr val="FFFFFF"/>
          </a:solidFill>
          <a:ln w="12700">
            <a:solidFill>
              <a:srgbClr val="D5DBE3"/>
            </a:solidFill>
            <a:prstDash val="solid"/>
          </a:ln>
        </p:spPr>
      </p:sp>
      <p:sp>
        <p:nvSpPr>
          <p:cNvPr id="36" name="Text 34"/>
          <p:cNvSpPr txBox="1"/>
          <p:nvPr/>
        </p:nvSpPr>
        <p:spPr>
          <a:xfrm>
            <a:off x="7406640" y="3364992"/>
            <a:ext cx="1280160" cy="457200"/>
          </a:xfrm>
          <a:prstGeom prst="rect">
            <a:avLst/>
          </a:prstGeom>
          <a:noFill/>
          <a:ln/>
        </p:spPr>
        <p:txBody>
          <a:bodyPr wrap="square" lIns="0" tIns="0" rIns="0" bIns="0" rtlCol="0" anchor="ctr"/>
          <a:lstStyle/>
          <a:p>
            <a:pPr algn="ctr" indent="0" marL="0">
              <a:buNone/>
            </a:pPr>
            <a:r>
              <a:rPr lang="en-US" sz="2200" b="1" dirty="0">
                <a:solidFill>
                  <a:srgbClr val="0E9AA7"/>
                </a:solidFill>
                <a:latin typeface="Georgia" pitchFamily="34" charset="0"/>
                <a:ea typeface="Georgia" pitchFamily="34" charset="-122"/>
                <a:cs typeface="Georgia" pitchFamily="34" charset="-120"/>
              </a:rPr>
              <a:t>306</a:t>
            </a:r>
            <a:endParaRPr lang="en-US" sz="2200" dirty="0"/>
          </a:p>
        </p:txBody>
      </p:sp>
      <p:sp>
        <p:nvSpPr>
          <p:cNvPr id="37" name="Text 35"/>
          <p:cNvSpPr txBox="1"/>
          <p:nvPr/>
        </p:nvSpPr>
        <p:spPr>
          <a:xfrm>
            <a:off x="7406640" y="3785616"/>
            <a:ext cx="128016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false negatives</a:t>
            </a:r>
            <a:endParaRPr lang="en-US" sz="1000" dirty="0"/>
          </a:p>
        </p:txBody>
      </p:sp>
      <p:sp>
        <p:nvSpPr>
          <p:cNvPr id="38" name="Takeaway"/>
          <p:cNvSpPr/>
          <p:nvPr/>
        </p:nvSpPr>
        <p:spPr>
          <a:xfrm>
            <a:off x="457200" y="4343400"/>
            <a:ext cx="8229600" cy="502920"/>
          </a:xfrm>
          <a:prstGeom prst="roundRect">
            <a:avLst>
              <a:gd name="adj" fmla="val 14545"/>
            </a:avLst>
          </a:prstGeom>
          <a:solidFill>
            <a:srgbClr val="0F1B33"/>
          </a:solidFill>
          <a:ln w="12700">
            <a:solidFill>
              <a:srgbClr val="0F1B33"/>
            </a:solidFill>
            <a:prstDash val="solid"/>
          </a:ln>
        </p:spPr>
      </p:sp>
      <p:sp>
        <p:nvSpPr>
          <p:cNvPr id="39" name="Text 37"/>
          <p:cNvSpPr txBox="1"/>
          <p:nvPr/>
        </p:nvSpPr>
        <p:spPr>
          <a:xfrm>
            <a:off x="640080" y="4343400"/>
            <a:ext cx="786384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model captures broad meaning well, but fine-grained constraints and threshold boundaries still matter.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33"/>
        </a:solidFill>
      </p:bgPr>
    </p:bg>
    <p:spTree>
      <p:nvGrpSpPr>
        <p:cNvPr id="1" name=""/>
        <p:cNvGrpSpPr/>
        <p:nvPr/>
      </p:nvGrpSpPr>
      <p:grpSpPr>
        <a:xfrm>
          <a:off x="0" y="0"/>
          <a:ext cx="0" cy="0"/>
          <a:chOff x="0" y="0"/>
          <a:chExt cx="0" cy="0"/>
        </a:xfrm>
      </p:grpSpPr>
      <p:sp>
        <p:nvSpPr>
          <p:cNvPr id="2" name="Text 0"/>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000" b="1" spc="300" kern="0" dirty="0">
                <a:solidFill>
                  <a:srgbClr val="0E9AA7"/>
                </a:solidFill>
                <a:latin typeface="Calibri" pitchFamily="34" charset="0"/>
                <a:ea typeface="Calibri" pitchFamily="34" charset="-122"/>
                <a:cs typeface="Calibri" pitchFamily="34" charset="-120"/>
              </a:rPr>
              <a:t>6 · CONCLUSION</a:t>
            </a:r>
            <a:endParaRPr lang="en-US" sz="10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1750" b="1" dirty="0">
                <a:solidFill>
                  <a:srgbClr val="FFFFFF"/>
                </a:solidFill>
                <a:latin typeface="Georgia" pitchFamily="34" charset="0"/>
                <a:ea typeface="Georgia" pitchFamily="34" charset="-122"/>
                <a:cs typeface="Georgia" pitchFamily="34" charset="-120"/>
              </a:rPr>
              <a:t>Semantic Similarity Helps. Semantic Understanding Is Harder.</a:t>
            </a:r>
            <a:endParaRPr lang="en-US" sz="1750" dirty="0"/>
          </a:p>
        </p:txBody>
      </p:sp>
      <p:sp>
        <p:nvSpPr>
          <p:cNvPr id="4" name="Text 2"/>
          <p:cNvSpPr txBox="1"/>
          <p:nvPr/>
        </p:nvSpPr>
        <p:spPr>
          <a:xfrm>
            <a:off x="457200" y="1234440"/>
            <a:ext cx="2560320" cy="548640"/>
          </a:xfrm>
          <a:prstGeom prst="rect">
            <a:avLst/>
          </a:prstGeom>
          <a:noFill/>
          <a:ln/>
        </p:spPr>
        <p:txBody>
          <a:bodyPr wrap="square" lIns="0" tIns="0" rIns="0" bIns="0" rtlCol="0" anchor="ctr"/>
          <a:lstStyle/>
          <a:p>
            <a:pPr indent="0" marL="0">
              <a:buNone/>
            </a:pPr>
            <a:r>
              <a:rPr lang="en-US" sz="3400" b="1" dirty="0">
                <a:solidFill>
                  <a:srgbClr val="0E9AA7"/>
                </a:solidFill>
                <a:latin typeface="Georgia" pitchFamily="34" charset="0"/>
                <a:ea typeface="Georgia" pitchFamily="34" charset="-122"/>
                <a:cs typeface="Georgia" pitchFamily="34" charset="-120"/>
              </a:rPr>
              <a:t>01</a:t>
            </a:r>
            <a:endParaRPr lang="en-US" sz="3400" dirty="0"/>
          </a:p>
        </p:txBody>
      </p:sp>
      <p:sp>
        <p:nvSpPr>
          <p:cNvPr id="5" name="Shape 3"/>
          <p:cNvSpPr/>
          <p:nvPr/>
        </p:nvSpPr>
        <p:spPr>
          <a:xfrm>
            <a:off x="457200" y="1828800"/>
            <a:ext cx="2560320" cy="0"/>
          </a:xfrm>
          <a:prstGeom prst="line">
            <a:avLst/>
          </a:prstGeom>
          <a:noFill/>
          <a:ln w="12700">
            <a:solidFill>
              <a:srgbClr val="33466B"/>
            </a:solidFill>
            <a:prstDash val="solid"/>
          </a:ln>
        </p:spPr>
      </p:sp>
      <p:sp>
        <p:nvSpPr>
          <p:cNvPr id="6" name="Text 4"/>
          <p:cNvSpPr txBox="1"/>
          <p:nvPr/>
        </p:nvSpPr>
        <p:spPr>
          <a:xfrm>
            <a:off x="457200" y="1920240"/>
            <a:ext cx="2560320" cy="914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Sentence-BERT outperformed TF-IDF on overall classification quality.</a:t>
            </a:r>
            <a:endParaRPr lang="en-US" sz="1350" dirty="0"/>
          </a:p>
        </p:txBody>
      </p:sp>
      <p:sp>
        <p:nvSpPr>
          <p:cNvPr id="7" name="Text 5"/>
          <p:cNvSpPr txBox="1"/>
          <p:nvPr/>
        </p:nvSpPr>
        <p:spPr>
          <a:xfrm>
            <a:off x="3264408" y="1234440"/>
            <a:ext cx="2560320" cy="548640"/>
          </a:xfrm>
          <a:prstGeom prst="rect">
            <a:avLst/>
          </a:prstGeom>
          <a:noFill/>
          <a:ln/>
        </p:spPr>
        <p:txBody>
          <a:bodyPr wrap="square" lIns="0" tIns="0" rIns="0" bIns="0" rtlCol="0" anchor="ctr"/>
          <a:lstStyle/>
          <a:p>
            <a:pPr indent="0" marL="0">
              <a:buNone/>
            </a:pPr>
            <a:r>
              <a:rPr lang="en-US" sz="3400" b="1" dirty="0">
                <a:solidFill>
                  <a:srgbClr val="0E9AA7"/>
                </a:solidFill>
                <a:latin typeface="Georgia" pitchFamily="34" charset="0"/>
                <a:ea typeface="Georgia" pitchFamily="34" charset="-122"/>
                <a:cs typeface="Georgia" pitchFamily="34" charset="-120"/>
              </a:rPr>
              <a:t>02</a:t>
            </a:r>
            <a:endParaRPr lang="en-US" sz="3400" dirty="0"/>
          </a:p>
        </p:txBody>
      </p:sp>
      <p:sp>
        <p:nvSpPr>
          <p:cNvPr id="8" name="Shape 6"/>
          <p:cNvSpPr/>
          <p:nvPr/>
        </p:nvSpPr>
        <p:spPr>
          <a:xfrm>
            <a:off x="3264408" y="1828800"/>
            <a:ext cx="2560320" cy="0"/>
          </a:xfrm>
          <a:prstGeom prst="line">
            <a:avLst/>
          </a:prstGeom>
          <a:noFill/>
          <a:ln w="12700">
            <a:solidFill>
              <a:srgbClr val="33466B"/>
            </a:solidFill>
            <a:prstDash val="solid"/>
          </a:ln>
        </p:spPr>
      </p:sp>
      <p:sp>
        <p:nvSpPr>
          <p:cNvPr id="9" name="Text 7"/>
          <p:cNvSpPr txBox="1"/>
          <p:nvPr/>
        </p:nvSpPr>
        <p:spPr>
          <a:xfrm>
            <a:off x="3264408" y="1920240"/>
            <a:ext cx="2560320" cy="914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Auditing revealed meaningful trade-offs across lexical overlap and question length.</a:t>
            </a:r>
            <a:endParaRPr lang="en-US" sz="1350" dirty="0"/>
          </a:p>
        </p:txBody>
      </p:sp>
      <p:sp>
        <p:nvSpPr>
          <p:cNvPr id="10" name="Text 8"/>
          <p:cNvSpPr txBox="1"/>
          <p:nvPr/>
        </p:nvSpPr>
        <p:spPr>
          <a:xfrm>
            <a:off x="6071616" y="1234440"/>
            <a:ext cx="2560320" cy="548640"/>
          </a:xfrm>
          <a:prstGeom prst="rect">
            <a:avLst/>
          </a:prstGeom>
          <a:noFill/>
          <a:ln/>
        </p:spPr>
        <p:txBody>
          <a:bodyPr wrap="square" lIns="0" tIns="0" rIns="0" bIns="0" rtlCol="0" anchor="ctr"/>
          <a:lstStyle/>
          <a:p>
            <a:pPr indent="0" marL="0">
              <a:buNone/>
            </a:pPr>
            <a:r>
              <a:rPr lang="en-US" sz="3400" b="1" dirty="0">
                <a:solidFill>
                  <a:srgbClr val="0E9AA7"/>
                </a:solidFill>
                <a:latin typeface="Georgia" pitchFamily="34" charset="0"/>
                <a:ea typeface="Georgia" pitchFamily="34" charset="-122"/>
                <a:cs typeface="Georgia" pitchFamily="34" charset="-120"/>
              </a:rPr>
              <a:t>03</a:t>
            </a:r>
            <a:endParaRPr lang="en-US" sz="3400" dirty="0"/>
          </a:p>
        </p:txBody>
      </p:sp>
      <p:sp>
        <p:nvSpPr>
          <p:cNvPr id="11" name="Shape 9"/>
          <p:cNvSpPr/>
          <p:nvPr/>
        </p:nvSpPr>
        <p:spPr>
          <a:xfrm>
            <a:off x="6071616" y="1828800"/>
            <a:ext cx="2560320" cy="0"/>
          </a:xfrm>
          <a:prstGeom prst="line">
            <a:avLst/>
          </a:prstGeom>
          <a:noFill/>
          <a:ln w="12700">
            <a:solidFill>
              <a:srgbClr val="33466B"/>
            </a:solidFill>
            <a:prstDash val="solid"/>
          </a:ln>
        </p:spPr>
      </p:sp>
      <p:sp>
        <p:nvSpPr>
          <p:cNvPr id="12" name="Text 10"/>
          <p:cNvSpPr txBox="1"/>
          <p:nvPr/>
        </p:nvSpPr>
        <p:spPr>
          <a:xfrm>
            <a:off x="6071616" y="1920240"/>
            <a:ext cx="2560320" cy="914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Fine-grained differences and ambiguous labels remain major challenges.</a:t>
            </a:r>
            <a:endParaRPr lang="en-US" sz="1350" dirty="0"/>
          </a:p>
        </p:txBody>
      </p:sp>
      <p:sp>
        <p:nvSpPr>
          <p:cNvPr id="13" name="Limitation"/>
          <p:cNvSpPr/>
          <p:nvPr/>
        </p:nvSpPr>
        <p:spPr>
          <a:xfrm>
            <a:off x="457200" y="3017520"/>
            <a:ext cx="4023360" cy="868680"/>
          </a:xfrm>
          <a:prstGeom prst="roundRect">
            <a:avLst>
              <a:gd name="adj" fmla="val 8421"/>
            </a:avLst>
          </a:prstGeom>
          <a:solidFill>
            <a:srgbClr val="18284A"/>
          </a:solidFill>
          <a:ln w="12700">
            <a:solidFill>
              <a:srgbClr val="33466B"/>
            </a:solidFill>
            <a:prstDash val="solid"/>
          </a:ln>
        </p:spPr>
      </p:sp>
      <p:sp>
        <p:nvSpPr>
          <p:cNvPr id="14" name="Text 12"/>
          <p:cNvSpPr txBox="1"/>
          <p:nvPr/>
        </p:nvSpPr>
        <p:spPr>
          <a:xfrm>
            <a:off x="640080" y="3090672"/>
            <a:ext cx="3657600" cy="228600"/>
          </a:xfrm>
          <a:prstGeom prst="rect">
            <a:avLst/>
          </a:prstGeom>
          <a:noFill/>
          <a:ln/>
        </p:spPr>
        <p:txBody>
          <a:bodyPr wrap="square" lIns="0" tIns="0" rIns="0" bIns="0" rtlCol="0" anchor="ctr"/>
          <a:lstStyle/>
          <a:p>
            <a:pPr indent="0" marL="0">
              <a:buNone/>
            </a:pPr>
            <a:r>
              <a:rPr lang="en-US" sz="1000" b="1" spc="200" kern="0" dirty="0">
                <a:solidFill>
                  <a:srgbClr val="E8A317"/>
                </a:solidFill>
                <a:latin typeface="Calibri" pitchFamily="34" charset="0"/>
                <a:ea typeface="Calibri" pitchFamily="34" charset="-122"/>
                <a:cs typeface="Calibri" pitchFamily="34" charset="-120"/>
              </a:rPr>
              <a:t>LIMITATION</a:t>
            </a:r>
            <a:endParaRPr lang="en-US" sz="1000" dirty="0"/>
          </a:p>
        </p:txBody>
      </p:sp>
      <p:sp>
        <p:nvSpPr>
          <p:cNvPr id="15" name="Text 13"/>
          <p:cNvSpPr txBox="1"/>
          <p:nvPr/>
        </p:nvSpPr>
        <p:spPr>
          <a:xfrm>
            <a:off x="640080" y="3328416"/>
            <a:ext cx="3657600" cy="502920"/>
          </a:xfrm>
          <a:prstGeom prst="rect">
            <a:avLst/>
          </a:prstGeom>
          <a:noFill/>
          <a:ln/>
        </p:spPr>
        <p:txBody>
          <a:bodyPr wrap="square" lIns="0" tIns="0" rIns="0" bIns="0" rtlCol="0" anchor="t"/>
          <a:lstStyle/>
          <a:p>
            <a:pPr indent="0" marL="0">
              <a:buNone/>
            </a:pPr>
            <a:r>
              <a:rPr lang="en-US" sz="1150" dirty="0">
                <a:solidFill>
                  <a:srgbClr val="E2E8F0"/>
                </a:solidFill>
                <a:latin typeface="Calibri" pitchFamily="34" charset="0"/>
                <a:ea typeface="Calibri" pitchFamily="34" charset="-122"/>
                <a:cs typeface="Calibri" pitchFamily="34" charset="-120"/>
              </a:rPr>
              <a:t>One pretrained Sentence-BERT model, one random split, no fine-tuning or cross-validation.</a:t>
            </a:r>
            <a:endParaRPr lang="en-US" sz="1150" dirty="0"/>
          </a:p>
        </p:txBody>
      </p:sp>
      <p:sp>
        <p:nvSpPr>
          <p:cNvPr id="16" name="Future"/>
          <p:cNvSpPr/>
          <p:nvPr/>
        </p:nvSpPr>
        <p:spPr>
          <a:xfrm>
            <a:off x="4663440" y="3017520"/>
            <a:ext cx="4023360" cy="868680"/>
          </a:xfrm>
          <a:prstGeom prst="roundRect">
            <a:avLst>
              <a:gd name="adj" fmla="val 8421"/>
            </a:avLst>
          </a:prstGeom>
          <a:solidFill>
            <a:srgbClr val="18284A"/>
          </a:solidFill>
          <a:ln w="12700">
            <a:solidFill>
              <a:srgbClr val="33466B"/>
            </a:solidFill>
            <a:prstDash val="solid"/>
          </a:ln>
        </p:spPr>
      </p:sp>
      <p:sp>
        <p:nvSpPr>
          <p:cNvPr id="17" name="Text 15"/>
          <p:cNvSpPr txBox="1"/>
          <p:nvPr/>
        </p:nvSpPr>
        <p:spPr>
          <a:xfrm>
            <a:off x="4846320" y="3090672"/>
            <a:ext cx="3657600" cy="228600"/>
          </a:xfrm>
          <a:prstGeom prst="rect">
            <a:avLst/>
          </a:prstGeom>
          <a:noFill/>
          <a:ln/>
        </p:spPr>
        <p:txBody>
          <a:bodyPr wrap="square" lIns="0" tIns="0" rIns="0" bIns="0" rtlCol="0" anchor="ctr"/>
          <a:lstStyle/>
          <a:p>
            <a:pPr indent="0" marL="0">
              <a:buNone/>
            </a:pPr>
            <a:r>
              <a:rPr lang="en-US" sz="1000" b="1" spc="200" kern="0" dirty="0">
                <a:solidFill>
                  <a:srgbClr val="0E9AA7"/>
                </a:solidFill>
                <a:latin typeface="Calibri" pitchFamily="34" charset="0"/>
                <a:ea typeface="Calibri" pitchFamily="34" charset="-122"/>
                <a:cs typeface="Calibri" pitchFamily="34" charset="-120"/>
              </a:rPr>
              <a:t>FUTURE</a:t>
            </a:r>
            <a:endParaRPr lang="en-US" sz="1000" dirty="0"/>
          </a:p>
        </p:txBody>
      </p:sp>
      <p:sp>
        <p:nvSpPr>
          <p:cNvPr id="18" name="Text 16"/>
          <p:cNvSpPr txBox="1"/>
          <p:nvPr/>
        </p:nvSpPr>
        <p:spPr>
          <a:xfrm>
            <a:off x="4846320" y="3328416"/>
            <a:ext cx="3657600" cy="502920"/>
          </a:xfrm>
          <a:prstGeom prst="rect">
            <a:avLst/>
          </a:prstGeom>
          <a:noFill/>
          <a:ln/>
        </p:spPr>
        <p:txBody>
          <a:bodyPr wrap="square" lIns="0" tIns="0" rIns="0" bIns="0" rtlCol="0" anchor="t"/>
          <a:lstStyle/>
          <a:p>
            <a:pPr indent="0" marL="0">
              <a:buNone/>
            </a:pPr>
            <a:r>
              <a:rPr lang="en-US" sz="1150" dirty="0">
                <a:solidFill>
                  <a:srgbClr val="E2E8F0"/>
                </a:solidFill>
                <a:latin typeface="Calibri" pitchFamily="34" charset="0"/>
                <a:ea typeface="Calibri" pitchFamily="34" charset="-122"/>
                <a:cs typeface="Calibri" pitchFamily="34" charset="-120"/>
              </a:rPr>
              <a:t>Cross-encoder + fine-tuning + explicit number/date/entity checks.</a:t>
            </a:r>
            <a:endParaRPr lang="en-US" sz="1150" dirty="0"/>
          </a:p>
        </p:txBody>
      </p:sp>
      <p:sp>
        <p:nvSpPr>
          <p:cNvPr id="19" name="Text 17"/>
          <p:cNvSpPr txBox="1"/>
          <p:nvPr/>
        </p:nvSpPr>
        <p:spPr>
          <a:xfrm>
            <a:off x="457200" y="3959352"/>
            <a:ext cx="8229600" cy="457200"/>
          </a:xfrm>
          <a:prstGeom prst="rect">
            <a:avLst/>
          </a:prstGeom>
          <a:noFill/>
          <a:ln/>
        </p:spPr>
        <p:txBody>
          <a:bodyPr wrap="square" lIns="0" tIns="0" rIns="0" bIns="0" rtlCol="0" anchor="ctr"/>
          <a:lstStyle/>
          <a:p>
            <a:pPr algn="ctr" indent="0" marL="0">
              <a:buNone/>
            </a:pPr>
            <a:r>
              <a:rPr lang="en-US" sz="1500" i="1" dirty="0">
                <a:solidFill>
                  <a:srgbClr val="FFFFFF"/>
                </a:solidFill>
                <a:latin typeface="Georgia" pitchFamily="34" charset="0"/>
                <a:ea typeface="Georgia" pitchFamily="34" charset="-122"/>
                <a:cs typeface="Georgia" pitchFamily="34" charset="-120"/>
              </a:rPr>
              <a:t>Duplicate detection should not stop at similarity. It must understand what changes the meaning.</a:t>
            </a:r>
            <a:endParaRPr lang="en-US" sz="1500" dirty="0"/>
          </a:p>
        </p:txBody>
      </p:sp>
      <p:sp>
        <p:nvSpPr>
          <p:cNvPr id="20" name="Text 18"/>
          <p:cNvSpPr txBox="1"/>
          <p:nvPr/>
        </p:nvSpPr>
        <p:spPr>
          <a:xfrm>
            <a:off x="457200" y="4507992"/>
            <a:ext cx="8229600" cy="146304"/>
          </a:xfrm>
          <a:prstGeom prst="rect">
            <a:avLst/>
          </a:prstGeom>
          <a:noFill/>
          <a:ln/>
        </p:spPr>
        <p:txBody>
          <a:bodyPr wrap="square" lIns="0" tIns="0" rIns="0" bIns="0" rtlCol="0" anchor="ctr"/>
          <a:lstStyle/>
          <a:p>
            <a:pPr algn="ctr" indent="0" marL="0">
              <a:buNone/>
            </a:pPr>
            <a:r>
              <a:rPr lang="en-US" sz="800" b="1" spc="300" kern="0" dirty="0">
                <a:solidFill>
                  <a:srgbClr val="0E9AA7"/>
                </a:solidFill>
                <a:latin typeface="Calibri" pitchFamily="34" charset="0"/>
                <a:ea typeface="Calibri" pitchFamily="34" charset="-122"/>
                <a:cs typeface="Calibri" pitchFamily="34" charset="-120"/>
              </a:rPr>
              <a:t>PRESENTED BY</a:t>
            </a:r>
            <a:endParaRPr lang="en-US" sz="800" dirty="0"/>
          </a:p>
        </p:txBody>
      </p:sp>
      <p:sp>
        <p:nvSpPr>
          <p:cNvPr id="21" name="Text 19"/>
          <p:cNvSpPr txBox="1"/>
          <p:nvPr/>
        </p:nvSpPr>
        <p:spPr>
          <a:xfrm>
            <a:off x="457200" y="4663440"/>
            <a:ext cx="2057400"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Priyani Lekhi</a:t>
            </a:r>
            <a:pPr algn="ctr" indent="0" marL="0">
              <a:buNone/>
            </a:pPr>
            <a:r>
              <a:rPr lang="en-US" sz="950" dirty="0">
                <a:solidFill>
                  <a:srgbClr val="94A3B8"/>
                </a:solidFill>
                <a:latin typeface="Calibri" pitchFamily="34" charset="0"/>
                <a:ea typeface="Calibri" pitchFamily="34" charset="-122"/>
                <a:cs typeface="Calibri" pitchFamily="34" charset="-120"/>
              </a:rPr>
              <a:t>  ·  PRN 25030422093</a:t>
            </a:r>
            <a:endParaRPr lang="en-US" sz="950" dirty="0"/>
          </a:p>
        </p:txBody>
      </p:sp>
      <p:sp>
        <p:nvSpPr>
          <p:cNvPr id="22" name="Text 20"/>
          <p:cNvSpPr txBox="1"/>
          <p:nvPr/>
        </p:nvSpPr>
        <p:spPr>
          <a:xfrm>
            <a:off x="2514600" y="4663440"/>
            <a:ext cx="2057400"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Kudrat Thakkar</a:t>
            </a:r>
            <a:pPr algn="ctr" indent="0" marL="0">
              <a:buNone/>
            </a:pPr>
            <a:r>
              <a:rPr lang="en-US" sz="950" dirty="0">
                <a:solidFill>
                  <a:srgbClr val="94A3B8"/>
                </a:solidFill>
                <a:latin typeface="Calibri" pitchFamily="34" charset="0"/>
                <a:ea typeface="Calibri" pitchFamily="34" charset="-122"/>
                <a:cs typeface="Calibri" pitchFamily="34" charset="-120"/>
              </a:rPr>
              <a:t>  ·  PRN 25030422062</a:t>
            </a:r>
            <a:endParaRPr lang="en-US" sz="950" dirty="0"/>
          </a:p>
        </p:txBody>
      </p:sp>
      <p:sp>
        <p:nvSpPr>
          <p:cNvPr id="23" name="Text 21"/>
          <p:cNvSpPr txBox="1"/>
          <p:nvPr/>
        </p:nvSpPr>
        <p:spPr>
          <a:xfrm>
            <a:off x="4572000" y="4663440"/>
            <a:ext cx="2057400"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Bhavay Madan</a:t>
            </a:r>
            <a:pPr algn="ctr" indent="0" marL="0">
              <a:buNone/>
            </a:pPr>
            <a:r>
              <a:rPr lang="en-US" sz="950" dirty="0">
                <a:solidFill>
                  <a:srgbClr val="94A3B8"/>
                </a:solidFill>
                <a:latin typeface="Calibri" pitchFamily="34" charset="0"/>
                <a:ea typeface="Calibri" pitchFamily="34" charset="-122"/>
                <a:cs typeface="Calibri" pitchFamily="34" charset="-120"/>
              </a:rPr>
              <a:t>  ·  PRN 25030422032</a:t>
            </a:r>
            <a:endParaRPr lang="en-US" sz="950" dirty="0"/>
          </a:p>
        </p:txBody>
      </p:sp>
      <p:sp>
        <p:nvSpPr>
          <p:cNvPr id="24" name="Text 22"/>
          <p:cNvSpPr txBox="1"/>
          <p:nvPr/>
        </p:nvSpPr>
        <p:spPr>
          <a:xfrm>
            <a:off x="6629400" y="4663440"/>
            <a:ext cx="2057400"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Dhruvi Aggarwal</a:t>
            </a:r>
            <a:pPr algn="ctr" indent="0" marL="0">
              <a:buNone/>
            </a:pPr>
            <a:r>
              <a:rPr lang="en-US" sz="950" dirty="0">
                <a:solidFill>
                  <a:srgbClr val="94A3B8"/>
                </a:solidFill>
                <a:latin typeface="Calibri" pitchFamily="34" charset="0"/>
                <a:ea typeface="Calibri" pitchFamily="34" charset="-122"/>
                <a:cs typeface="Calibri" pitchFamily="34" charset="-120"/>
              </a:rPr>
              <a:t>  ·  PRN 25030422039</a:t>
            </a:r>
            <a:endParaRPr lang="en-US" sz="950" dirty="0"/>
          </a:p>
        </p:txBody>
      </p:sp>
      <p:sp>
        <p:nvSpPr>
          <p:cNvPr id="25" name="Text 23"/>
          <p:cNvSpPr txBox="1"/>
          <p:nvPr/>
        </p:nvSpPr>
        <p:spPr>
          <a:xfrm>
            <a:off x="457200" y="4901184"/>
            <a:ext cx="8229600" cy="16459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GitHub: github.com/priyanilekhi/semantic-similarity-duplicate-question-detection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Similarity-Based Duplicate Question Detection</dc:title>
  <dc:subject>PptxGenJS Presentation</dc:subject>
  <dc:creator>Priyani Lekhi, Kudrat Thakkar, Bhavay Madan, Dhruvi Aggarwal</dc:creator>
  <cp:lastModifiedBy>Priyani Lekhi, Kudrat Thakkar, Bhavay Madan, Dhruvi Aggarwal</cp:lastModifiedBy>
  <cp:revision>1</cp:revision>
  <dcterms:created xsi:type="dcterms:W3CDTF">2026-10-07T20:18:11Z</dcterms:created>
  <dcterms:modified xsi:type="dcterms:W3CDTF">2026-10-07T20:18:11Z</dcterms:modified>
</cp:coreProperties>
</file>